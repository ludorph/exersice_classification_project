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1256" r:id="rId24"/>
    <p:sldId id="1257" r:id="rId25"/>
    <p:sldId id="1258" r:id="rId26"/>
    <p:sldId id="278" r:id="rId27"/>
    <p:sldId id="27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14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81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  <a:latin typeface="맑은 고딕"/>
              </a:rPr>
              <a:t>관절 위치 정보 기반 운동 동작 분류 및
성능 및 오분류 패턴 비교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015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C5C"/>
                </a:solidFill>
                <a:latin typeface="맑은 고딕"/>
              </a:rPr>
              <a:t>공학 논문 연구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86200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2026.06.17   김한서, 최서혁, 손석기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맑은 고딕"/>
              </a:rPr>
              <a:t>관절 위치 정보 기반 운동 동작 분류 및 오분류 패턴 비교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92608"/>
            <a:ext cx="10469880" cy="566928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200" b="1">
                <a:solidFill>
                  <a:srgbClr val="141414"/>
                </a:solidFill>
                <a:latin typeface="맑은 고딕"/>
              </a:rPr>
              <a:t>목차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078992"/>
            <a:ext cx="1033272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0">
                <a:solidFill>
                  <a:srgbClr val="5C5C5C"/>
                </a:solidFill>
                <a:latin typeface="맑은 고딕"/>
              </a:rPr>
              <a:t>4개의 큰 흐름 안에 세부 발표 내용을 배치하여 전체 구조를 먼저 보여준다.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514600" cy="4251960"/>
          </a:xfrm>
          <a:prstGeom prst="roundRect">
            <a:avLst/>
          </a:prstGeom>
          <a:solidFill>
            <a:srgbClr val="F7F7F7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2514600" cy="512064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01  문제 정의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" y="2313432"/>
            <a:ext cx="2221992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맑은 고딕"/>
              </a:rPr>
              <a:t>연구 배경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" y="2770632"/>
            <a:ext cx="2221992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맑은 고딕"/>
              </a:rPr>
              <a:t>연구 문제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" y="3227832"/>
            <a:ext cx="2221992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맑은 고딕"/>
              </a:rPr>
              <a:t>연구 목적 및 기여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600200"/>
            <a:ext cx="2514600" cy="4251960"/>
          </a:xfrm>
          <a:prstGeom prst="roundRect">
            <a:avLst/>
          </a:prstGeom>
          <a:solidFill>
            <a:srgbClr val="F7F7F7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1600200"/>
            <a:ext cx="2514600" cy="512064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02  방법론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66744" y="2313432"/>
            <a:ext cx="2221992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맑은 고딕"/>
              </a:rPr>
              <a:t>전체 파이프라인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66744" y="2688336"/>
            <a:ext cx="2221992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맑은 고딕"/>
              </a:rPr>
              <a:t>데이터셋 구성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66744" y="3063240"/>
            <a:ext cx="2221992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맑은 고딕"/>
              </a:rPr>
              <a:t>데이터 분할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66744" y="3438144"/>
            <a:ext cx="2221992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맑은 고딕"/>
              </a:rPr>
              <a:t>데이터 처리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66744" y="3813048"/>
            <a:ext cx="2221992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맑은 고딕"/>
              </a:rPr>
              <a:t>특징 추출 수식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66744" y="4187952"/>
            <a:ext cx="2221992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맑은 고딕"/>
              </a:rPr>
              <a:t>모델별 입력 구조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66744" y="4562856"/>
            <a:ext cx="2221992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맑은 고딕"/>
              </a:rPr>
              <a:t>모델 방법론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66744" y="4937760"/>
            <a:ext cx="2221992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맑은 고딕"/>
              </a:rPr>
              <a:t>실험 설계·평가 지표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1600200"/>
            <a:ext cx="2514600" cy="4251960"/>
          </a:xfrm>
          <a:prstGeom prst="roundRect">
            <a:avLst/>
          </a:prstGeom>
          <a:solidFill>
            <a:srgbClr val="F7F7F7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46520" y="1600200"/>
            <a:ext cx="2514600" cy="512064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03  실험 결과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92824" y="2313432"/>
            <a:ext cx="2221992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맑은 고딕"/>
              </a:rPr>
              <a:t>최종 성능 비교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92824" y="2770632"/>
            <a:ext cx="2221992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맑은 고딕"/>
              </a:rPr>
              <a:t>성능 결과 해석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92824" y="3227832"/>
            <a:ext cx="2221992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맑은 고딕"/>
              </a:rPr>
              <a:t>Confusion Matrix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92824" y="3685032"/>
            <a:ext cx="2221992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맑은 고딕"/>
              </a:rPr>
              <a:t>주요 오분류 조합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72600" y="1600200"/>
            <a:ext cx="2514600" cy="4251960"/>
          </a:xfrm>
          <a:prstGeom prst="roundRect">
            <a:avLst/>
          </a:prstGeom>
          <a:solidFill>
            <a:srgbClr val="F7F7F7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372600" y="1600200"/>
            <a:ext cx="2514600" cy="512064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04  검증·논의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18904" y="2313432"/>
            <a:ext cx="2221992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100" b="0" dirty="0" err="1">
                <a:solidFill>
                  <a:srgbClr val="141414"/>
                </a:solidFill>
                <a:latin typeface="맑은 고딕"/>
              </a:rPr>
              <a:t>버피</a:t>
            </a:r>
            <a:r>
              <a:rPr sz="1100" b="0" dirty="0">
                <a:solidFill>
                  <a:srgbClr val="14141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41414"/>
                </a:solidFill>
                <a:latin typeface="맑은 고딕"/>
              </a:rPr>
              <a:t>테스트</a:t>
            </a:r>
            <a:r>
              <a:rPr sz="1100" b="0" dirty="0">
                <a:solidFill>
                  <a:srgbClr val="14141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41414"/>
                </a:solidFill>
                <a:latin typeface="맑은 고딕"/>
              </a:rPr>
              <a:t>지표</a:t>
            </a:r>
            <a:r>
              <a:rPr sz="1100" b="0" dirty="0">
                <a:solidFill>
                  <a:srgbClr val="14141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141414"/>
                </a:solidFill>
                <a:latin typeface="맑은 고딕"/>
              </a:rPr>
              <a:t>검증</a:t>
            </a:r>
            <a:endParaRPr sz="1100" b="0" dirty="0">
              <a:solidFill>
                <a:srgbClr val="141414"/>
              </a:solidFill>
              <a:latin typeface="맑은 고딕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518904" y="2688336"/>
            <a:ext cx="2221992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맑은 고딕"/>
              </a:rPr>
              <a:t>자세 그룹별 분석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18904" y="3063240"/>
            <a:ext cx="2221992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맑은 고딕"/>
              </a:rPr>
              <a:t>한계점 및 향후 연구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18904" y="3438144"/>
            <a:ext cx="2221992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맑은 고딕"/>
              </a:rPr>
              <a:t>결론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18904" y="3813048"/>
            <a:ext cx="2221992" cy="283464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rIns="54864" rtlCol="0" anchor="ctr"/>
          <a:lstStyle/>
          <a:p>
            <a:pPr algn="ctr"/>
            <a:r>
              <a:rPr sz="1100" b="0">
                <a:solidFill>
                  <a:srgbClr val="141414"/>
                </a:solidFill>
                <a:latin typeface="맑은 고딕"/>
              </a:rPr>
              <a:t>Q&amp;A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3127248" y="3493008"/>
            <a:ext cx="256032" cy="256032"/>
          </a:xfrm>
          <a:prstGeom prst="rightArrow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ight Arrow 35"/>
          <p:cNvSpPr/>
          <p:nvPr/>
        </p:nvSpPr>
        <p:spPr>
          <a:xfrm>
            <a:off x="6053328" y="3493008"/>
            <a:ext cx="256032" cy="256032"/>
          </a:xfrm>
          <a:prstGeom prst="rightArrow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ight Arrow 36"/>
          <p:cNvSpPr/>
          <p:nvPr/>
        </p:nvSpPr>
        <p:spPr>
          <a:xfrm>
            <a:off x="8979408" y="3493008"/>
            <a:ext cx="256032" cy="256032"/>
          </a:xfrm>
          <a:prstGeom prst="rightArrow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1560" y="6053328"/>
            <a:ext cx="10058400" cy="323165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ctr"/>
            <a:r>
              <a:rPr sz="1500" b="1" dirty="0" err="1">
                <a:solidFill>
                  <a:srgbClr val="BE1423"/>
                </a:solidFill>
                <a:latin typeface="맑은 고딕"/>
              </a:rPr>
              <a:t>핵심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: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모델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성능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순위뿐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아니라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,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어떤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운동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라벨이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 왜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혼동되는지까지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설명한다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맑은 고딕"/>
              </a:rPr>
              <a:t>연구 배경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115568"/>
            <a:ext cx="10515600" cy="6858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100" b="1">
                <a:solidFill>
                  <a:srgbClr val="141414"/>
                </a:solidFill>
                <a:latin typeface="맑은 고딕"/>
              </a:rPr>
              <a:t>홈트레이닝·스마트 피트니스·재활 운동에서 사용자가 어떤 운동을 수행했는지 자동으로 인식하는 기술은 자세 피드백의 출발점이다.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5440680" cy="31546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맑은 고딕"/>
              </a:defRPr>
            </a:pPr>
            <a:r>
              <a:rPr dirty="0" err="1"/>
              <a:t>원본</a:t>
            </a:r>
            <a:r>
              <a:rPr dirty="0"/>
              <a:t> RGB </a:t>
            </a:r>
            <a:r>
              <a:rPr dirty="0" err="1"/>
              <a:t>영상은</a:t>
            </a:r>
            <a:r>
              <a:rPr dirty="0"/>
              <a:t> </a:t>
            </a:r>
            <a:r>
              <a:rPr dirty="0" err="1"/>
              <a:t>배경</a:t>
            </a:r>
            <a:r>
              <a:rPr dirty="0"/>
              <a:t>, </a:t>
            </a:r>
            <a:r>
              <a:rPr dirty="0" err="1"/>
              <a:t>조명</a:t>
            </a:r>
            <a:r>
              <a:rPr dirty="0"/>
              <a:t>, </a:t>
            </a:r>
            <a:r>
              <a:rPr dirty="0" err="1"/>
              <a:t>복장</a:t>
            </a:r>
            <a:r>
              <a:rPr dirty="0"/>
              <a:t>, </a:t>
            </a:r>
            <a:r>
              <a:rPr dirty="0" err="1"/>
              <a:t>개인정보</a:t>
            </a:r>
            <a:r>
              <a:rPr dirty="0"/>
              <a:t> </a:t>
            </a:r>
            <a:r>
              <a:rPr dirty="0" err="1"/>
              <a:t>문제의</a:t>
            </a:r>
            <a:r>
              <a:rPr dirty="0"/>
              <a:t> </a:t>
            </a:r>
            <a:r>
              <a:rPr dirty="0" err="1"/>
              <a:t>영향을</a:t>
            </a:r>
            <a:r>
              <a:rPr dirty="0"/>
              <a:t> </a:t>
            </a:r>
            <a:r>
              <a:rPr dirty="0" err="1"/>
              <a:t>받을</a:t>
            </a:r>
            <a:r>
              <a:rPr dirty="0"/>
              <a:t> 수 </a:t>
            </a:r>
            <a:r>
              <a:rPr dirty="0" err="1"/>
              <a:t>있다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맑은 고딕"/>
              </a:defRPr>
            </a:pPr>
            <a:r>
              <a:rPr dirty="0"/>
              <a:t>3D </a:t>
            </a:r>
            <a:r>
              <a:rPr dirty="0" err="1"/>
              <a:t>관절</a:t>
            </a:r>
            <a:r>
              <a:rPr dirty="0"/>
              <a:t> </a:t>
            </a:r>
            <a:r>
              <a:rPr dirty="0" err="1"/>
              <a:t>좌표는</a:t>
            </a:r>
            <a:r>
              <a:rPr dirty="0"/>
              <a:t> </a:t>
            </a:r>
            <a:r>
              <a:rPr dirty="0" err="1"/>
              <a:t>인체의</a:t>
            </a:r>
            <a:r>
              <a:rPr dirty="0"/>
              <a:t> </a:t>
            </a:r>
            <a:r>
              <a:rPr dirty="0" err="1"/>
              <a:t>공간적</a:t>
            </a:r>
            <a:r>
              <a:rPr dirty="0"/>
              <a:t> </a:t>
            </a:r>
            <a:r>
              <a:rPr dirty="0" err="1"/>
              <a:t>배치와</a:t>
            </a:r>
            <a:r>
              <a:rPr dirty="0"/>
              <a:t> </a:t>
            </a:r>
            <a:r>
              <a:rPr dirty="0" err="1"/>
              <a:t>움직임을</a:t>
            </a:r>
            <a:r>
              <a:rPr dirty="0"/>
              <a:t> </a:t>
            </a:r>
            <a:r>
              <a:rPr dirty="0" err="1"/>
              <a:t>간결하게</a:t>
            </a:r>
            <a:r>
              <a:rPr dirty="0"/>
              <a:t> </a:t>
            </a:r>
            <a:r>
              <a:rPr dirty="0" err="1"/>
              <a:t>표현하므로</a:t>
            </a:r>
            <a:r>
              <a:rPr dirty="0"/>
              <a:t> </a:t>
            </a:r>
            <a:r>
              <a:rPr dirty="0" err="1"/>
              <a:t>운동</a:t>
            </a:r>
            <a:r>
              <a:rPr dirty="0"/>
              <a:t> </a:t>
            </a:r>
            <a:r>
              <a:rPr dirty="0" err="1"/>
              <a:t>동작</a:t>
            </a:r>
            <a:r>
              <a:rPr dirty="0"/>
              <a:t> </a:t>
            </a:r>
            <a:r>
              <a:rPr dirty="0" err="1"/>
              <a:t>분류에</a:t>
            </a:r>
            <a:r>
              <a:rPr dirty="0"/>
              <a:t> </a:t>
            </a:r>
            <a:r>
              <a:rPr dirty="0" err="1"/>
              <a:t>적합하다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맑은 고딕"/>
              </a:defRPr>
            </a:pPr>
            <a:r>
              <a:rPr dirty="0" err="1"/>
              <a:t>하지만</a:t>
            </a:r>
            <a:r>
              <a:rPr dirty="0"/>
              <a:t> </a:t>
            </a:r>
            <a:r>
              <a:rPr dirty="0" err="1"/>
              <a:t>푸시업-니푸쉬업</a:t>
            </a:r>
            <a:r>
              <a:rPr dirty="0"/>
              <a:t>, </a:t>
            </a:r>
            <a:r>
              <a:rPr dirty="0" err="1"/>
              <a:t>크런치</a:t>
            </a:r>
            <a:r>
              <a:rPr dirty="0"/>
              <a:t> </a:t>
            </a:r>
            <a:r>
              <a:rPr dirty="0" err="1"/>
              <a:t>계열처럼</a:t>
            </a:r>
            <a:r>
              <a:rPr dirty="0"/>
              <a:t> </a:t>
            </a:r>
            <a:r>
              <a:rPr dirty="0" err="1"/>
              <a:t>유사한</a:t>
            </a:r>
            <a:r>
              <a:rPr dirty="0"/>
              <a:t> </a:t>
            </a:r>
            <a:r>
              <a:rPr dirty="0" err="1"/>
              <a:t>자세와</a:t>
            </a:r>
            <a:r>
              <a:rPr dirty="0"/>
              <a:t> </a:t>
            </a:r>
            <a:r>
              <a:rPr dirty="0" err="1"/>
              <a:t>관절</a:t>
            </a:r>
            <a:r>
              <a:rPr dirty="0"/>
              <a:t> </a:t>
            </a:r>
            <a:r>
              <a:rPr dirty="0" err="1"/>
              <a:t>움직임을</a:t>
            </a:r>
            <a:r>
              <a:rPr dirty="0"/>
              <a:t> </a:t>
            </a:r>
            <a:r>
              <a:rPr dirty="0" err="1"/>
              <a:t>공유하는</a:t>
            </a:r>
            <a:r>
              <a:rPr dirty="0"/>
              <a:t> </a:t>
            </a:r>
            <a:r>
              <a:rPr dirty="0" err="1"/>
              <a:t>운동이</a:t>
            </a:r>
            <a:r>
              <a:rPr dirty="0"/>
              <a:t> </a:t>
            </a:r>
            <a:r>
              <a:rPr dirty="0" err="1"/>
              <a:t>많다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  <a:latin typeface="맑은 고딕"/>
              </a:defRPr>
            </a:pPr>
            <a:r>
              <a:rPr dirty="0" err="1"/>
              <a:t>따라서</a:t>
            </a:r>
            <a:r>
              <a:rPr dirty="0"/>
              <a:t> 본 </a:t>
            </a:r>
            <a:r>
              <a:rPr dirty="0" err="1"/>
              <a:t>연구는</a:t>
            </a:r>
            <a:r>
              <a:rPr dirty="0"/>
              <a:t> </a:t>
            </a:r>
            <a:r>
              <a:rPr dirty="0" err="1"/>
              <a:t>단순</a:t>
            </a:r>
            <a:r>
              <a:rPr dirty="0"/>
              <a:t> </a:t>
            </a:r>
            <a:r>
              <a:rPr dirty="0" err="1"/>
              <a:t>정확도뿐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모델별</a:t>
            </a:r>
            <a:r>
              <a:rPr dirty="0"/>
              <a:t> </a:t>
            </a:r>
            <a:r>
              <a:rPr dirty="0" err="1"/>
              <a:t>성능과</a:t>
            </a:r>
            <a:r>
              <a:rPr dirty="0"/>
              <a:t> </a:t>
            </a:r>
            <a:r>
              <a:rPr dirty="0" err="1"/>
              <a:t>오분류</a:t>
            </a:r>
            <a:r>
              <a:rPr dirty="0"/>
              <a:t> </a:t>
            </a:r>
            <a:r>
              <a:rPr dirty="0" err="1"/>
              <a:t>패턴을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비교한다</a:t>
            </a:r>
            <a:r>
              <a:rPr dirty="0"/>
              <a:t>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08760"/>
            <a:ext cx="4709160" cy="275983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14400" y="5532120"/>
            <a:ext cx="10287000" cy="502920"/>
          </a:xfrm>
          <a:prstGeom prst="roundRect">
            <a:avLst/>
          </a:prstGeom>
          <a:solidFill>
            <a:srgbClr val="FFF6F7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 dirty="0">
                <a:solidFill>
                  <a:srgbClr val="BE1423"/>
                </a:solidFill>
                <a:latin typeface="맑은 고딕"/>
              </a:rPr>
              <a:t>왜 이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연구를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했는가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: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관절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좌표만으로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운동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종류를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분류할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 수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있는지와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,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어떤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유사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동작에서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한계가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생기는지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확인하기</a:t>
            </a:r>
            <a:r>
              <a:rPr sz="15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BE1423"/>
                </a:solidFill>
                <a:latin typeface="맑은 고딕"/>
              </a:rPr>
              <a:t>위해</a:t>
            </a:r>
            <a:endParaRPr sz="1500" b="1" dirty="0">
              <a:solidFill>
                <a:srgbClr val="BE142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맑은 고딕"/>
              </a:rPr>
              <a:t>연구 문제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1280160"/>
            <a:ext cx="10424160" cy="731520"/>
          </a:xfrm>
          <a:prstGeom prst="roundRect">
            <a:avLst/>
          </a:prstGeom>
          <a:solidFill>
            <a:srgbClr val="FFF6F7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BE1423"/>
                </a:solidFill>
                <a:latin typeface="맑은 고딕"/>
              </a:rPr>
              <a:t>17개 맨몸운동을 관절 좌표만으로 얼마나 안정적으로 구분할 수 있는가?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9784080" cy="28346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40"/>
              </a:spcAft>
              <a:defRPr sz="2000">
                <a:solidFill>
                  <a:srgbClr val="141414"/>
                </a:solidFill>
                <a:latin typeface="맑은 고딕"/>
              </a:defRPr>
            </a:pPr>
            <a:r>
              <a:rPr dirty="0" err="1"/>
              <a:t>모델별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차이가</a:t>
            </a:r>
            <a:r>
              <a:rPr dirty="0"/>
              <a:t> </a:t>
            </a:r>
            <a:r>
              <a:rPr dirty="0" err="1"/>
              <a:t>있는가</a:t>
            </a:r>
            <a:r>
              <a:rPr dirty="0"/>
              <a:t>?</a:t>
            </a:r>
          </a:p>
          <a:p>
            <a:pPr>
              <a:spcAft>
                <a:spcPts val="240"/>
              </a:spcAft>
              <a:defRPr sz="2000">
                <a:solidFill>
                  <a:srgbClr val="141414"/>
                </a:solidFill>
                <a:latin typeface="맑은 고딕"/>
              </a:defRPr>
            </a:pP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정확도가</a:t>
            </a:r>
            <a:r>
              <a:rPr dirty="0"/>
              <a:t>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안정적인</a:t>
            </a:r>
            <a:r>
              <a:rPr dirty="0"/>
              <a:t> </a:t>
            </a:r>
            <a:r>
              <a:rPr dirty="0" err="1"/>
              <a:t>성능을</a:t>
            </a:r>
            <a:r>
              <a:rPr dirty="0"/>
              <a:t> </a:t>
            </a:r>
            <a:r>
              <a:rPr dirty="0" err="1"/>
              <a:t>의미하는가</a:t>
            </a:r>
            <a:r>
              <a:rPr dirty="0"/>
              <a:t>?</a:t>
            </a:r>
          </a:p>
          <a:p>
            <a:pPr>
              <a:spcAft>
                <a:spcPts val="240"/>
              </a:spcAft>
              <a:defRPr sz="2000">
                <a:solidFill>
                  <a:srgbClr val="141414"/>
                </a:solidFill>
                <a:latin typeface="맑은 고딕"/>
              </a:defRPr>
            </a:pPr>
            <a:r>
              <a:rPr dirty="0" err="1"/>
              <a:t>오분류는</a:t>
            </a:r>
            <a:r>
              <a:rPr dirty="0"/>
              <a:t> </a:t>
            </a:r>
            <a:r>
              <a:rPr dirty="0" err="1"/>
              <a:t>무작위로</a:t>
            </a:r>
            <a:r>
              <a:rPr dirty="0"/>
              <a:t> </a:t>
            </a:r>
            <a:r>
              <a:rPr dirty="0" err="1"/>
              <a:t>발생하는가</a:t>
            </a:r>
            <a:r>
              <a:rPr dirty="0"/>
              <a:t>, </a:t>
            </a:r>
            <a:r>
              <a:rPr dirty="0" err="1"/>
              <a:t>아니면</a:t>
            </a:r>
            <a:r>
              <a:rPr dirty="0"/>
              <a:t> </a:t>
            </a:r>
            <a:r>
              <a:rPr dirty="0" err="1"/>
              <a:t>유사</a:t>
            </a:r>
            <a:r>
              <a:rPr dirty="0"/>
              <a:t> </a:t>
            </a:r>
            <a:r>
              <a:rPr dirty="0" err="1"/>
              <a:t>자세</a:t>
            </a:r>
            <a:r>
              <a:rPr dirty="0"/>
              <a:t> </a:t>
            </a:r>
            <a:r>
              <a:rPr dirty="0" err="1"/>
              <a:t>그룹에</a:t>
            </a:r>
            <a:r>
              <a:rPr dirty="0"/>
              <a:t> </a:t>
            </a:r>
            <a:r>
              <a:rPr dirty="0" err="1"/>
              <a:t>집중되는가</a:t>
            </a:r>
            <a:r>
              <a:rPr dirty="0"/>
              <a:t>?</a:t>
            </a:r>
          </a:p>
          <a:p>
            <a:pPr>
              <a:spcAft>
                <a:spcPts val="240"/>
              </a:spcAft>
              <a:defRPr sz="2000">
                <a:solidFill>
                  <a:srgbClr val="141414"/>
                </a:solidFill>
                <a:latin typeface="맑은 고딕"/>
              </a:defRPr>
            </a:pPr>
            <a:r>
              <a:rPr dirty="0"/>
              <a:t>AI-Hub </a:t>
            </a:r>
            <a:r>
              <a:rPr dirty="0" err="1"/>
              <a:t>조건의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웹캠</a:t>
            </a:r>
            <a:r>
              <a:rPr dirty="0"/>
              <a:t>/</a:t>
            </a:r>
            <a:r>
              <a:rPr dirty="0" err="1"/>
              <a:t>MediaPipe</a:t>
            </a:r>
            <a:r>
              <a:rPr dirty="0"/>
              <a:t> </a:t>
            </a:r>
            <a:r>
              <a:rPr dirty="0" err="1"/>
              <a:t>환경에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일반화할</a:t>
            </a:r>
            <a:r>
              <a:rPr dirty="0"/>
              <a:t> 수 </a:t>
            </a:r>
            <a:r>
              <a:rPr dirty="0" err="1"/>
              <a:t>있는가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맑은 고딕"/>
              </a:rPr>
              <a:t>연구 목적 및 기여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325880"/>
          <a:ext cx="103327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1414"/>
                          </a:solidFill>
                          <a:latin typeface="맑은 고딕"/>
                        </a:rPr>
                        <a:t>분류 실험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1414"/>
                          </a:solidFill>
                          <a:latin typeface="맑은 고딕"/>
                        </a:rPr>
                        <a:t>AI-Hub 3D 관절 좌표 JSON으로 17개 맨몸운동 분류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1414"/>
                          </a:solidFill>
                          <a:latin typeface="맑은 고딕"/>
                        </a:rPr>
                        <a:t>모델 비교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1414"/>
                          </a:solidFill>
                          <a:latin typeface="맑은 고딕"/>
                        </a:rPr>
                        <a:t>SVM, XGBoost, GNN, Transformer의 성능 비교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1414"/>
                          </a:solidFill>
                          <a:latin typeface="맑은 고딕"/>
                        </a:rPr>
                        <a:t>오분류 분석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1414"/>
                          </a:solidFill>
                          <a:latin typeface="맑은 고딕"/>
                        </a:rPr>
                        <a:t>혼동행렬과 주요 오분류 조합을 통해 유사 동작 확인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1414"/>
                          </a:solidFill>
                          <a:latin typeface="맑은 고딕"/>
                        </a:rPr>
                        <a:t>검증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1414"/>
                          </a:solidFill>
                          <a:latin typeface="맑은 고딕"/>
                        </a:rPr>
                        <a:t>seed 반복 실험, 하이퍼파라미터 튜닝, 지표 해석 보강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맑은 고딕"/>
              </a:rPr>
              <a:t>전체 실험 파이프라인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ure_method_0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10515600" cy="27406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43000" y="5650992"/>
            <a:ext cx="9875520" cy="502920"/>
          </a:xfrm>
          <a:prstGeom prst="roundRect">
            <a:avLst/>
          </a:prstGeom>
          <a:solidFill>
            <a:srgbClr val="FFF6F7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BE1423"/>
                </a:solidFill>
                <a:latin typeface="맑은 고딕"/>
              </a:rPr>
              <a:t>-3d.json 1개를 운동 수행 샘플 1개로 변환한 뒤 모델별 입력 형식으로 학습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맑은 고딕"/>
              </a:rPr>
              <a:t>데이터셋 구성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325880"/>
          <a:ext cx="48463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1414"/>
                          </a:solidFill>
                          <a:latin typeface="맑은 고딕"/>
                        </a:rPr>
                        <a:t>데이터셋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1414"/>
                          </a:solidFill>
                          <a:latin typeface="맑은 고딕"/>
                        </a:rPr>
                        <a:t>AI-Hub 피트니스 자세 이미지 데이터셋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1414"/>
                          </a:solidFill>
                          <a:latin typeface="맑은 고딕"/>
                        </a:rPr>
                        <a:t>사용 파일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1414"/>
                          </a:solidFill>
                          <a:latin typeface="맑은 고딕"/>
                        </a:rPr>
                        <a:t>-3d.json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1414"/>
                          </a:solidFill>
                          <a:latin typeface="맑은 고딕"/>
                        </a:rPr>
                        <a:t>유효 샘플 수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1414"/>
                          </a:solidFill>
                          <a:latin typeface="맑은 고딕"/>
                        </a:rPr>
                        <a:t>16,408개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1414"/>
                          </a:solidFill>
                          <a:latin typeface="맑은 고딕"/>
                        </a:rPr>
                        <a:t>라벨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1414"/>
                          </a:solidFill>
                          <a:latin typeface="맑은 고딕"/>
                        </a:rPr>
                        <a:t>맨몸운동 17개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1414"/>
                          </a:solidFill>
                          <a:latin typeface="맑은 고딕"/>
                        </a:rPr>
                        <a:t>관절 좌표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1414"/>
                          </a:solidFill>
                          <a:latin typeface="맑은 고딕"/>
                        </a:rPr>
                        <a:t>24개 관절 × x, y, z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26480" y="1508760"/>
            <a:ext cx="5120640" cy="24688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40"/>
              </a:spcAft>
              <a:defRPr sz="1800">
                <a:solidFill>
                  <a:srgbClr val="141414"/>
                </a:solidFill>
                <a:latin typeface="맑은 고딕"/>
              </a:defRPr>
            </a:pPr>
            <a:r>
              <a:rPr dirty="0" err="1"/>
              <a:t>대표</a:t>
            </a:r>
            <a:r>
              <a:rPr dirty="0"/>
              <a:t> </a:t>
            </a:r>
            <a:r>
              <a:rPr dirty="0" err="1"/>
              <a:t>라벨</a:t>
            </a:r>
            <a:r>
              <a:rPr dirty="0"/>
              <a:t>: </a:t>
            </a:r>
            <a:r>
              <a:rPr dirty="0" err="1"/>
              <a:t>푸시업</a:t>
            </a:r>
            <a:r>
              <a:rPr dirty="0"/>
              <a:t>, </a:t>
            </a:r>
            <a:r>
              <a:rPr dirty="0" err="1"/>
              <a:t>니푸쉬업</a:t>
            </a:r>
            <a:r>
              <a:rPr dirty="0"/>
              <a:t>, </a:t>
            </a:r>
            <a:r>
              <a:rPr dirty="0" err="1"/>
              <a:t>사이드</a:t>
            </a:r>
            <a:r>
              <a:rPr dirty="0"/>
              <a:t> </a:t>
            </a:r>
            <a:r>
              <a:rPr dirty="0" err="1"/>
              <a:t>런지</a:t>
            </a:r>
            <a:r>
              <a:rPr dirty="0"/>
              <a:t>, </a:t>
            </a:r>
            <a:r>
              <a:rPr dirty="0" err="1"/>
              <a:t>크런치</a:t>
            </a:r>
            <a:r>
              <a:rPr dirty="0"/>
              <a:t>, </a:t>
            </a:r>
            <a:r>
              <a:rPr dirty="0" err="1"/>
              <a:t>플랭크</a:t>
            </a:r>
            <a:r>
              <a:rPr dirty="0"/>
              <a:t>, </a:t>
            </a:r>
            <a:r>
              <a:rPr dirty="0" err="1"/>
              <a:t>버피</a:t>
            </a:r>
            <a:r>
              <a:rPr dirty="0"/>
              <a:t> </a:t>
            </a:r>
            <a:r>
              <a:rPr dirty="0" err="1"/>
              <a:t>테스트</a:t>
            </a:r>
            <a:r>
              <a:rPr dirty="0"/>
              <a:t> 등</a:t>
            </a:r>
          </a:p>
          <a:p>
            <a:pPr>
              <a:spcAft>
                <a:spcPts val="240"/>
              </a:spcAft>
              <a:defRPr sz="1800">
                <a:solidFill>
                  <a:srgbClr val="141414"/>
                </a:solidFill>
                <a:latin typeface="맑은 고딕"/>
              </a:defRPr>
            </a:pPr>
            <a:r>
              <a:rPr dirty="0" err="1"/>
              <a:t>프레임</a:t>
            </a:r>
            <a:r>
              <a:rPr dirty="0"/>
              <a:t> </a:t>
            </a:r>
            <a:r>
              <a:rPr dirty="0" err="1"/>
              <a:t>하나가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JSON </a:t>
            </a:r>
            <a:r>
              <a:rPr dirty="0" err="1"/>
              <a:t>파일</a:t>
            </a:r>
            <a:r>
              <a:rPr dirty="0"/>
              <a:t> </a:t>
            </a:r>
            <a:r>
              <a:rPr dirty="0" err="1"/>
              <a:t>하나가</a:t>
            </a:r>
            <a:r>
              <a:rPr dirty="0"/>
              <a:t> </a:t>
            </a:r>
            <a:r>
              <a:rPr dirty="0" err="1"/>
              <a:t>하나의</a:t>
            </a:r>
            <a:r>
              <a:rPr dirty="0"/>
              <a:t> </a:t>
            </a:r>
            <a:r>
              <a:rPr dirty="0" err="1"/>
              <a:t>샘플이다</a:t>
            </a:r>
            <a:r>
              <a:rPr dirty="0"/>
              <a:t>.</a:t>
            </a:r>
          </a:p>
          <a:p>
            <a:pPr>
              <a:spcAft>
                <a:spcPts val="240"/>
              </a:spcAft>
              <a:defRPr sz="1800">
                <a:solidFill>
                  <a:srgbClr val="141414"/>
                </a:solidFill>
                <a:latin typeface="맑은 고딕"/>
              </a:defRPr>
            </a:pPr>
            <a:r>
              <a:rPr dirty="0" err="1"/>
              <a:t>평가도</a:t>
            </a:r>
            <a:r>
              <a:rPr dirty="0"/>
              <a:t> </a:t>
            </a:r>
            <a:r>
              <a:rPr dirty="0" err="1"/>
              <a:t>프레임</a:t>
            </a:r>
            <a:r>
              <a:rPr dirty="0"/>
              <a:t> </a:t>
            </a:r>
            <a:r>
              <a:rPr dirty="0" err="1"/>
              <a:t>단위가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운동</a:t>
            </a:r>
            <a:r>
              <a:rPr dirty="0"/>
              <a:t> </a:t>
            </a:r>
            <a:r>
              <a:rPr dirty="0" err="1"/>
              <a:t>수행</a:t>
            </a:r>
            <a:r>
              <a:rPr dirty="0"/>
              <a:t> </a:t>
            </a:r>
            <a:r>
              <a:rPr dirty="0" err="1"/>
              <a:t>샘플</a:t>
            </a:r>
            <a:r>
              <a:rPr dirty="0"/>
              <a:t> </a:t>
            </a:r>
            <a:r>
              <a:rPr dirty="0" err="1"/>
              <a:t>단위로</a:t>
            </a:r>
            <a:r>
              <a:rPr dirty="0"/>
              <a:t> </a:t>
            </a:r>
            <a:r>
              <a:rPr dirty="0" err="1"/>
              <a:t>수행하였다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800600"/>
            <a:ext cx="4754880" cy="594360"/>
          </a:xfrm>
          <a:prstGeom prst="roundRect">
            <a:avLst/>
          </a:prstGeom>
          <a:solidFill>
            <a:srgbClr val="FFF6F7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BE1423"/>
                </a:solidFill>
                <a:latin typeface="맑은 고딕"/>
              </a:rPr>
              <a:t>중요: 프레임 단위 학습이 아니라 샘플 단위 분류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맑은 고딕"/>
              </a:rPr>
              <a:t>데이터 분할 기준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1325880"/>
          <a:ext cx="4754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split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samples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sessions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1414"/>
                          </a:solidFill>
                          <a:latin typeface="맑은 고딕"/>
                        </a:rPr>
                        <a:t>train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1414"/>
                          </a:solidFill>
                          <a:latin typeface="맑은 고딕"/>
                        </a:rPr>
                        <a:t>10147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1414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1414"/>
                          </a:solidFill>
                          <a:latin typeface="맑은 고딕"/>
                        </a:rPr>
                        <a:t>validation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1414"/>
                          </a:solidFill>
                          <a:latin typeface="맑은 고딕"/>
                        </a:rPr>
                        <a:t>3093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1414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1414"/>
                          </a:solidFill>
                          <a:latin typeface="맑은 고딕"/>
                        </a:rPr>
                        <a:t>test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1414"/>
                          </a:solidFill>
                          <a:latin typeface="맑은 고딕"/>
                        </a:rPr>
                        <a:t>3168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41414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80760" y="1353312"/>
            <a:ext cx="5120640" cy="32004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40"/>
              </a:spcAft>
              <a:defRPr sz="1800">
                <a:solidFill>
                  <a:srgbClr val="141414"/>
                </a:solidFill>
                <a:latin typeface="맑은 고딕"/>
              </a:defRPr>
            </a:pPr>
            <a:r>
              <a:t>Train: 모델이 패턴을 학습하는 데이터</a:t>
            </a:r>
          </a:p>
          <a:p>
            <a:pPr>
              <a:spcAft>
                <a:spcPts val="240"/>
              </a:spcAft>
              <a:defRPr sz="1800">
                <a:solidFill>
                  <a:srgbClr val="141414"/>
                </a:solidFill>
                <a:latin typeface="맑은 고딕"/>
              </a:defRPr>
            </a:pPr>
            <a:r>
              <a:t>Validation: 하이퍼파라미터와 설정을 고르는 데이터</a:t>
            </a:r>
          </a:p>
          <a:p>
            <a:pPr>
              <a:spcAft>
                <a:spcPts val="240"/>
              </a:spcAft>
              <a:defRPr sz="1800">
                <a:solidFill>
                  <a:srgbClr val="141414"/>
                </a:solidFill>
                <a:latin typeface="맑은 고딕"/>
              </a:defRPr>
            </a:pPr>
            <a:r>
              <a:t>Test: 최종 성능을 확인하는 데이터</a:t>
            </a:r>
          </a:p>
          <a:p>
            <a:pPr>
              <a:spcAft>
                <a:spcPts val="240"/>
              </a:spcAft>
              <a:defRPr sz="1800">
                <a:solidFill>
                  <a:srgbClr val="141414"/>
                </a:solidFill>
                <a:latin typeface="맑은 고딕"/>
              </a:defRPr>
            </a:pPr>
            <a:r>
              <a:t>동일 샘플이 학습과 평가에 동시에 들어가지 않도록 분리하였다.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5212080"/>
            <a:ext cx="4754880" cy="502920"/>
          </a:xfrm>
          <a:prstGeom prst="roundRect">
            <a:avLst/>
          </a:prstGeom>
          <a:solidFill>
            <a:srgbClr val="FFF6F7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BE1423"/>
                </a:solidFill>
                <a:latin typeface="맑은 고딕"/>
              </a:rPr>
              <a:t>Test 성능은 모델 선택 이후 마지막에 확인하는 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맑은 고딕"/>
              </a:rPr>
              <a:t>데이터 처리 방식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5486400" cy="34747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40"/>
              </a:spcAft>
              <a:defRPr sz="2000">
                <a:solidFill>
                  <a:srgbClr val="141414"/>
                </a:solidFill>
                <a:latin typeface="맑은 고딕"/>
              </a:defRPr>
            </a:pPr>
            <a:r>
              <a:t>1. -3d.json 파일을 읽고 frames 내부의 관절 좌표를 추출</a:t>
            </a:r>
          </a:p>
          <a:p>
            <a:pPr>
              <a:spcAft>
                <a:spcPts val="240"/>
              </a:spcAft>
              <a:defRPr sz="2000">
                <a:solidFill>
                  <a:srgbClr val="141414"/>
                </a:solidFill>
                <a:latin typeface="맑은 고딕"/>
              </a:defRPr>
            </a:pPr>
            <a:r>
              <a:t>2. 프레임별 24개 관절의 x, y, z 좌표를 정리</a:t>
            </a:r>
          </a:p>
          <a:p>
            <a:pPr>
              <a:spcAft>
                <a:spcPts val="240"/>
              </a:spcAft>
              <a:defRPr sz="2000">
                <a:solidFill>
                  <a:srgbClr val="141414"/>
                </a:solidFill>
                <a:latin typeface="맑은 고딕"/>
              </a:defRPr>
            </a:pPr>
            <a:r>
              <a:t>3. 프레임 전체를 기준으로 관절별 통계 특징을 계산</a:t>
            </a:r>
          </a:p>
          <a:p>
            <a:pPr>
              <a:spcAft>
                <a:spcPts val="240"/>
              </a:spcAft>
              <a:defRPr sz="2000">
                <a:solidFill>
                  <a:srgbClr val="141414"/>
                </a:solidFill>
                <a:latin typeface="맑은 고딕"/>
              </a:defRPr>
            </a:pPr>
            <a:r>
              <a:t>4. JSON 파일 하나를 하나의 샘플 벡터/행렬로 변환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074920"/>
            <a:ext cx="10424160" cy="594360"/>
          </a:xfrm>
          <a:prstGeom prst="roundRect">
            <a:avLst/>
          </a:prstGeom>
          <a:solidFill>
            <a:srgbClr val="FFF6F7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BE1423"/>
                </a:solidFill>
                <a:latin typeface="맑은 고딕"/>
              </a:rPr>
              <a:t>입력 변환의 목적: 길이가 다른 프레임 시퀀스를 모델이 사용할 수 있는 고정 형식으로 만들기</a:t>
            </a:r>
          </a:p>
        </p:txBody>
      </p:sp>
      <p:pic>
        <p:nvPicPr>
          <p:cNvPr id="9" name="Picture 8" descr="figure_method_0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17320"/>
            <a:ext cx="4663440" cy="12154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맑은 고딕"/>
              </a:rPr>
              <a:t>특징 추출 수식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530352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800" b="1">
                <a:solidFill>
                  <a:srgbClr val="BE1423"/>
                </a:solidFill>
                <a:latin typeface="맑은 고딕"/>
              </a:rPr>
              <a:t>샘플 i의 관절 좌표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64208"/>
            <a:ext cx="5394960" cy="10058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200" b="0">
                <a:solidFill>
                  <a:srgbClr val="141414"/>
                </a:solidFill>
                <a:latin typeface="맑은 고딕"/>
              </a:rPr>
              <a:t>X_i = { p_{t,j} | t = 1,...,T_i, j = 1,...,J }
p_{t,j} = (x_{t,j}, y_{t,j}, z_{t,j})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484632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800" b="1">
                <a:solidFill>
                  <a:srgbClr val="BE1423"/>
                </a:solidFill>
                <a:latin typeface="맑은 고딕"/>
              </a:rPr>
              <a:t>관절별 통계 특징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937760" cy="32918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40"/>
              </a:spcAft>
              <a:defRPr sz="1800">
                <a:solidFill>
                  <a:srgbClr val="141414"/>
                </a:solidFill>
                <a:latin typeface="맑은 고딕"/>
              </a:defRPr>
            </a:pPr>
            <a:r>
              <a:t>평균: mean(p_j)</a:t>
            </a:r>
          </a:p>
          <a:p>
            <a:pPr>
              <a:spcAft>
                <a:spcPts val="240"/>
              </a:spcAft>
              <a:defRPr sz="1800">
                <a:solidFill>
                  <a:srgbClr val="141414"/>
                </a:solidFill>
                <a:latin typeface="맑은 고딕"/>
              </a:defRPr>
            </a:pPr>
            <a:r>
              <a:t>표준편차: std(p_j)</a:t>
            </a:r>
          </a:p>
          <a:p>
            <a:pPr>
              <a:spcAft>
                <a:spcPts val="240"/>
              </a:spcAft>
              <a:defRPr sz="1800">
                <a:solidFill>
                  <a:srgbClr val="141414"/>
                </a:solidFill>
                <a:latin typeface="맑은 고딕"/>
              </a:defRPr>
            </a:pPr>
            <a:r>
              <a:t>최솟값/최댓값: min(p_j), max(p_j)</a:t>
            </a:r>
          </a:p>
          <a:p>
            <a:pPr>
              <a:spcAft>
                <a:spcPts val="240"/>
              </a:spcAft>
              <a:defRPr sz="1800">
                <a:solidFill>
                  <a:srgbClr val="141414"/>
                </a:solidFill>
                <a:latin typeface="맑은 고딕"/>
              </a:defRPr>
            </a:pPr>
            <a:r>
              <a:t>움직임 범위: max(p_j) - min(p_j)</a:t>
            </a:r>
          </a:p>
          <a:p>
            <a:pPr>
              <a:spcAft>
                <a:spcPts val="240"/>
              </a:spcAft>
              <a:defRPr sz="1800">
                <a:solidFill>
                  <a:srgbClr val="141414"/>
                </a:solidFill>
                <a:latin typeface="맑은 고딕"/>
              </a:defRPr>
            </a:pPr>
            <a:r>
              <a:t>시작-종료 변화량: p_T,j - p_1,j</a:t>
            </a:r>
          </a:p>
          <a:p>
            <a:pPr>
              <a:spcAft>
                <a:spcPts val="240"/>
              </a:spcAft>
              <a:defRPr sz="1800">
                <a:solidFill>
                  <a:srgbClr val="141414"/>
                </a:solidFill>
                <a:latin typeface="맑은 고딕"/>
              </a:defRPr>
            </a:pPr>
            <a:r>
              <a:t>평균 이동량: mean(||p_t,j - p_{t-1,j}||)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440680"/>
            <a:ext cx="10241280" cy="502920"/>
          </a:xfrm>
          <a:prstGeom prst="roundRect">
            <a:avLst/>
          </a:prstGeom>
          <a:solidFill>
            <a:srgbClr val="FFF6F7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BE1423"/>
                </a:solidFill>
                <a:latin typeface="맑은 고딕"/>
              </a:rPr>
              <a:t>프레임 전체를 요약해 운동 수행 샘플의 자세와 움직임 특성을 표현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맑은 고딕"/>
              </a:rPr>
              <a:t>모델별 입력 구조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ure_method_02_model_struc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88720"/>
            <a:ext cx="10515600" cy="47740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257800"/>
            <a:ext cx="10058400" cy="7315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40"/>
              </a:spcAft>
              <a:defRPr sz="1500">
                <a:solidFill>
                  <a:srgbClr val="141414"/>
                </a:solidFill>
                <a:latin typeface="맑은 고딕"/>
              </a:defRPr>
            </a:pPr>
            <a:r>
              <a:t>SVM/XGBoost: 모든 특징을 1차원 벡터로 flatten하여 입력</a:t>
            </a:r>
          </a:p>
          <a:p>
            <a:pPr>
              <a:spcAft>
                <a:spcPts val="240"/>
              </a:spcAft>
              <a:defRPr sz="1500">
                <a:solidFill>
                  <a:srgbClr val="141414"/>
                </a:solidFill>
                <a:latin typeface="맑은 고딕"/>
              </a:defRPr>
            </a:pPr>
            <a:r>
              <a:t>GNN: 관절을 node, 인체 연결을 edge로 구성</a:t>
            </a:r>
          </a:p>
          <a:p>
            <a:pPr>
              <a:spcAft>
                <a:spcPts val="240"/>
              </a:spcAft>
              <a:defRPr sz="1500">
                <a:solidFill>
                  <a:srgbClr val="141414"/>
                </a:solidFill>
                <a:latin typeface="맑은 고딕"/>
              </a:defRPr>
            </a:pPr>
            <a:r>
              <a:t>Transformer: 관절을 token으로 보고 관절 간 관계를 self-attention으로 학습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맑은 고딕"/>
              </a:rPr>
              <a:t>모델 방법론 I: SVM / XGBoost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530352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800" b="1">
                <a:solidFill>
                  <a:srgbClr val="BE1423"/>
                </a:solidFill>
                <a:latin typeface="맑은 고딕"/>
              </a:rPr>
              <a:t>SVM: RBF kernel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5212080" cy="1645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100" b="0">
                <a:solidFill>
                  <a:srgbClr val="141414"/>
                </a:solidFill>
                <a:latin typeface="맑은 고딕"/>
              </a:rPr>
              <a:t>K(x_i, x_j) = exp(-gamma ||x_i - x_j||^2)
결정 함수 값이 가장 큰 클래스를 최종 라벨로 선택한다.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12064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800" b="1">
                <a:solidFill>
                  <a:srgbClr val="BE1423"/>
                </a:solidFill>
                <a:latin typeface="맑은 고딕"/>
              </a:rPr>
              <a:t>XGBoost: boosted tree ensemble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212080" cy="164592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100" b="0">
                <a:solidFill>
                  <a:srgbClr val="141414"/>
                </a:solidFill>
                <a:latin typeface="맑은 고딕"/>
              </a:rPr>
              <a:t>y_hat_i = Σ_k f_k(x_i)
여러 decision tree의 예측을 누적하고, 손실 함수와 정규화 항을 함께 최소화한다.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983480"/>
            <a:ext cx="10149840" cy="594360"/>
          </a:xfrm>
          <a:prstGeom prst="roundRect">
            <a:avLst/>
          </a:prstGeom>
          <a:solidFill>
            <a:srgbClr val="FFF6F7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BE1423"/>
                </a:solidFill>
                <a:latin typeface="맑은 고딕"/>
              </a:rPr>
              <a:t>두 모델은 관절 통계 특징 벡터에서 클래스 경계를 찾는 비교 기준 모델이다.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맑은 고딕"/>
              </a:rPr>
              <a:t>모델 방법론 II: GNN / Transformer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530352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800" b="1">
                <a:solidFill>
                  <a:srgbClr val="BE1423"/>
                </a:solidFill>
                <a:latin typeface="맑은 고딕"/>
              </a:rPr>
              <a:t>GNN: skeleton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5257800" cy="20116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900" b="0">
                <a:solidFill>
                  <a:srgbClr val="141414"/>
                </a:solidFill>
                <a:latin typeface="맑은 고딕"/>
              </a:rPr>
              <a:t>A_hat = D^{-1/2}(A + I)D^{-1/2}
H^{(l+1)} = σ(A_hat H^{(l)} W^{(l)})
관절 node와 골격 edge를 이용해 구조적 관계를 학습한다.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12064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800" b="1">
                <a:solidFill>
                  <a:srgbClr val="BE1423"/>
                </a:solidFill>
                <a:latin typeface="맑은 고딕"/>
              </a:rPr>
              <a:t>Transformer: joint self-attention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257800" cy="20116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900" b="0">
                <a:solidFill>
                  <a:srgbClr val="141414"/>
                </a:solidFill>
                <a:latin typeface="맑은 고딕"/>
              </a:rPr>
              <a:t>Attention(Q,K,V) = softmax(QK^T / sqrt(d_k))V
관절 token 사이의 상호작용을 attention weight로 학습한다.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5074920"/>
            <a:ext cx="10149840" cy="594360"/>
          </a:xfrm>
          <a:prstGeom prst="roundRect">
            <a:avLst/>
          </a:prstGeom>
          <a:solidFill>
            <a:srgbClr val="FFF6F7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BE1423"/>
                </a:solidFill>
                <a:latin typeface="맑은 고딕"/>
              </a:rPr>
              <a:t>GNN/Transformer는 단순 벡터가 아니라 관절 간 관계를 모델 내부에서 반영한다.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맑은 고딕"/>
              </a:rPr>
              <a:t>실험 설계와 하이퍼파라미터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43000"/>
          <a:ext cx="11201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구조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주요 설정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맑은 고딕"/>
                        </a:rPr>
                        <a:t>SVM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맑은 고딕"/>
                        </a:rPr>
                        <a:t>RBF kernel SVM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맑은 고딕"/>
                        </a:rPr>
                        <a:t>kernel=rbf, C=10.0, gamma=scale, class_weight=balanced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맑은 고딕"/>
                        </a:rPr>
                        <a:t>XGBOOST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맑은 고딕"/>
                        </a:rPr>
                        <a:t>Gradient boosted decision trees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맑은 고딕"/>
                        </a:rPr>
                        <a:t>n_estimators=500, max_depth=5, learning_rate=0.05, subsample=0.85, colsample_bytree=0.85, reg_lambda=2.0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맑은 고딕"/>
                        </a:rPr>
                        <a:t>TRANSFORMER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맑은 고딕"/>
                        </a:rPr>
                        <a:t>Joint-token Transformer, parameters=406161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맑은 고딕"/>
                        </a:rPr>
                        <a:t>d_model=128, num_heads=4, num_layers=3, dim_feedforward=256, dropout=0.2, learning_rate=0.0007, batch_size=128, epochs=60, patience=10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맑은 고딕"/>
                        </a:rPr>
                        <a:t>GNN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맑은 고딕"/>
                        </a:rPr>
                        <a:t>Graph neural network, parameters=25873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맑은 고딕"/>
                        </a:rPr>
                        <a:t>hidden_dim=128, num_layers=2, dropout=0.3, learning_rate=0.0007, batch_size=128, epochs=60, patience=10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434840"/>
            <a:ext cx="10789920" cy="12344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40"/>
              </a:spcAft>
              <a:defRPr sz="1700">
                <a:solidFill>
                  <a:srgbClr val="141414"/>
                </a:solidFill>
                <a:latin typeface="맑은 고딕"/>
              </a:defRPr>
            </a:pPr>
            <a:r>
              <a:t>Validation 성능을 기준으로 소규모 하이퍼파라미터 튜닝을 수행하였다.</a:t>
            </a:r>
          </a:p>
          <a:p>
            <a:pPr>
              <a:spcAft>
                <a:spcPts val="240"/>
              </a:spcAft>
              <a:defRPr sz="1700">
                <a:solidFill>
                  <a:srgbClr val="141414"/>
                </a:solidFill>
                <a:latin typeface="맑은 고딕"/>
              </a:defRPr>
            </a:pPr>
            <a:r>
              <a:t>최종 설정은 seed 42, 7, 21, 100, 2026으로 반복 실험하였다.</a:t>
            </a:r>
          </a:p>
          <a:p>
            <a:pPr>
              <a:spcAft>
                <a:spcPts val="240"/>
              </a:spcAft>
              <a:defRPr sz="1700">
                <a:solidFill>
                  <a:srgbClr val="141414"/>
                </a:solidFill>
                <a:latin typeface="맑은 고딕"/>
              </a:defRPr>
            </a:pPr>
            <a:r>
              <a:t>반복 seed 실험은 특정 분할이나 초기값에 성능이 우연히 의존하는지 확인하기 위한 절차이다.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맑은 고딕"/>
              </a:rPr>
              <a:t>평가 지표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7315200" cy="4114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200" b="1">
                <a:solidFill>
                  <a:srgbClr val="BE1423"/>
                </a:solidFill>
                <a:latin typeface="맑은 고딕"/>
              </a:rPr>
              <a:t>주요 비교 지표: Macro-F1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6858000" cy="109728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2200" b="0">
                <a:solidFill>
                  <a:srgbClr val="141414"/>
                </a:solidFill>
                <a:latin typeface="맑은 고딕"/>
              </a:rPr>
              <a:t>F1_c = 2 × Precision_c × Recall_c / (Precision_c + Recall_c)
Macro-F1 = (1 / C) Σ_c F1_c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6217920" cy="21031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40"/>
              </a:spcAft>
              <a:defRPr sz="1800">
                <a:solidFill>
                  <a:srgbClr val="141414"/>
                </a:solidFill>
                <a:latin typeface="맑은 고딕"/>
              </a:defRPr>
            </a:pPr>
            <a:r>
              <a:t>Accuracy: 전체 샘플 중 정답을 맞힌 비율</a:t>
            </a:r>
          </a:p>
          <a:p>
            <a:pPr>
              <a:spcAft>
                <a:spcPts val="240"/>
              </a:spcAft>
              <a:defRPr sz="1800">
                <a:solidFill>
                  <a:srgbClr val="141414"/>
                </a:solidFill>
                <a:latin typeface="맑은 고딕"/>
              </a:defRPr>
            </a:pPr>
            <a:r>
              <a:t>Macro-F1: 각 라벨의 F1을 동일한 비중으로 평균</a:t>
            </a:r>
          </a:p>
          <a:p>
            <a:pPr>
              <a:spcAft>
                <a:spcPts val="240"/>
              </a:spcAft>
              <a:defRPr sz="1800">
                <a:solidFill>
                  <a:srgbClr val="141414"/>
                </a:solidFill>
                <a:latin typeface="맑은 고딕"/>
              </a:defRPr>
            </a:pPr>
            <a:r>
              <a:t>Weighted-F1: 라벨별 샘플 수를 반영한 F1 평균</a:t>
            </a:r>
          </a:p>
          <a:p>
            <a:pPr>
              <a:spcAft>
                <a:spcPts val="240"/>
              </a:spcAft>
              <a:defRPr sz="1800">
                <a:solidFill>
                  <a:srgbClr val="141414"/>
                </a:solidFill>
                <a:latin typeface="맑은 고딕"/>
              </a:defRPr>
            </a:pPr>
            <a:r>
              <a:t>Confusion Matrix: 어떤 라벨이 어떤 라벨로 오분류되었는지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148840"/>
            <a:ext cx="4206240" cy="1508760"/>
          </a:xfrm>
          <a:prstGeom prst="roundRect">
            <a:avLst/>
          </a:prstGeom>
          <a:solidFill>
            <a:srgbClr val="FFF6F7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BE1423"/>
                </a:solidFill>
                <a:latin typeface="맑은 고딕"/>
              </a:rPr>
              <a:t>라벨별 샘플 수 차이를 고려하기 위해 Macro-F1을 핵심 비교 지표로 사용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맑은 고딕"/>
              </a:rPr>
              <a:t>최종 성능 비교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ure_01_final_repeated_seed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6583680" cy="395020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43800" y="1417320"/>
          <a:ext cx="38862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Macro-F1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1414"/>
                          </a:solidFill>
                          <a:latin typeface="맑은 고딕"/>
                        </a:rPr>
                        <a:t>SVM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1414"/>
                          </a:solidFill>
                          <a:latin typeface="맑은 고딕"/>
                        </a:rPr>
                        <a:t>0.9044 ± 0.0142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1414"/>
                          </a:solidFill>
                          <a:latin typeface="맑은 고딕"/>
                        </a:rPr>
                        <a:t>XGBoost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1414"/>
                          </a:solidFill>
                          <a:latin typeface="맑은 고딕"/>
                        </a:rPr>
                        <a:t>0.9006 ± 0.0113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1414"/>
                          </a:solidFill>
                          <a:latin typeface="맑은 고딕"/>
                        </a:rPr>
                        <a:t>Transformer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1414"/>
                          </a:solidFill>
                          <a:latin typeface="맑은 고딕"/>
                        </a:rPr>
                        <a:t>0.8770 ± 0.0119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1414"/>
                          </a:solidFill>
                          <a:latin typeface="맑은 고딕"/>
                        </a:rPr>
                        <a:t>GNN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41414"/>
                          </a:solidFill>
                          <a:latin typeface="맑은 고딕"/>
                        </a:rPr>
                        <a:t>0.8462 ± 0.0113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43800" y="3977639"/>
            <a:ext cx="3840480" cy="14173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40"/>
              </a:spcAft>
              <a:defRPr sz="1600">
                <a:solidFill>
                  <a:srgbClr val="141414"/>
                </a:solidFill>
                <a:latin typeface="맑은 고딕"/>
              </a:defRPr>
            </a:pPr>
            <a:r>
              <a:t>SVM과 XGBoost가 가장 높은 평균 Macro-F1을 보였다.</a:t>
            </a:r>
          </a:p>
          <a:p>
            <a:pPr>
              <a:spcAft>
                <a:spcPts val="240"/>
              </a:spcAft>
              <a:defRPr sz="1600">
                <a:solidFill>
                  <a:srgbClr val="141414"/>
                </a:solidFill>
                <a:latin typeface="맑은 고딕"/>
              </a:defRPr>
            </a:pPr>
            <a:r>
              <a:t>Transformer와 GNN은 관절 관계를 반영하지만, 본 특징 구성에서는 전통 ML 모델보다 낮았다.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맑은 고딕"/>
              </a:rPr>
              <a:t>성능 결과 해석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18872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Accuracy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Macro-F1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Weighted-F1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맑은 고딕"/>
                        </a:rPr>
                        <a:t>SVM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맑은 고딕"/>
                        </a:rPr>
                        <a:t>0.8985 +/- 0.0151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맑은 고딕"/>
                        </a:rPr>
                        <a:t>0.9044 +/- 0.0142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맑은 고딕"/>
                        </a:rPr>
                        <a:t>0.8984 +/- 0.0167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맑은 고딕"/>
                        </a:rPr>
                        <a:t>XGBOOST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맑은 고딕"/>
                        </a:rPr>
                        <a:t>0.8988 +/- 0.0134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맑은 고딕"/>
                        </a:rPr>
                        <a:t>0.9006 +/- 0.0113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맑은 고딕"/>
                        </a:rPr>
                        <a:t>0.8971 +/- 0.0141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맑은 고딕"/>
                        </a:rPr>
                        <a:t>TRANSFORMER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맑은 고딕"/>
                        </a:rPr>
                        <a:t>0.8777 +/- 0.0112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맑은 고딕"/>
                        </a:rPr>
                        <a:t>0.8770 +/- 0.0119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맑은 고딕"/>
                        </a:rPr>
                        <a:t>0.8774 +/- 0.0122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맑은 고딕"/>
                        </a:rPr>
                        <a:t>GNN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맑은 고딕"/>
                        </a:rPr>
                        <a:t>0.8462 +/- 0.0092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맑은 고딕"/>
                        </a:rPr>
                        <a:t>0.8462 +/- 0.0113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맑은 고딕"/>
                        </a:rPr>
                        <a:t>0.8456 +/- 0.0107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3977639"/>
            <a:ext cx="10332720" cy="16459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40"/>
              </a:spcAft>
              <a:defRPr sz="1800">
                <a:solidFill>
                  <a:srgbClr val="141414"/>
                </a:solidFill>
                <a:latin typeface="맑은 고딕"/>
              </a:defRPr>
            </a:pPr>
            <a:r>
              <a:t>SVM/XGBoost는 요약 통계 특징과 잘 맞아 안정적인 성능을 보였다.</a:t>
            </a:r>
          </a:p>
          <a:p>
            <a:pPr>
              <a:spcAft>
                <a:spcPts val="240"/>
              </a:spcAft>
              <a:defRPr sz="1800">
                <a:solidFill>
                  <a:srgbClr val="141414"/>
                </a:solidFill>
                <a:latin typeface="맑은 고딕"/>
              </a:defRPr>
            </a:pPr>
            <a:r>
              <a:t>GNN/Transformer는 구조적 관계를 학습할 수 있지만, 샘플을 통계 요약으로 변환한 조건에서는 이점이 제한될 수 있다.</a:t>
            </a:r>
          </a:p>
          <a:p>
            <a:pPr>
              <a:spcAft>
                <a:spcPts val="240"/>
              </a:spcAft>
              <a:defRPr sz="1800">
                <a:solidFill>
                  <a:srgbClr val="141414"/>
                </a:solidFill>
                <a:latin typeface="맑은 고딕"/>
              </a:defRPr>
            </a:pPr>
            <a:r>
              <a:t>따라서 모델 구조의 복잡성이 항상 더 높은 성능으로 이어지지는 않았다.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맑은 고딕"/>
              </a:rPr>
              <a:t>오분류 패턴: Confusion Matrix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ure_04_representative_confusion_matrix_svm_seed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6212941" cy="53845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417320"/>
            <a:ext cx="3931920" cy="28346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40"/>
              </a:spcAft>
              <a:defRPr sz="1700">
                <a:solidFill>
                  <a:srgbClr val="141414"/>
                </a:solidFill>
                <a:latin typeface="맑은 고딕"/>
              </a:defRPr>
            </a:pPr>
            <a:r>
              <a:t>오분류는 무작위가 아니라 유사 자세와 유사 움직임을 가진 운동 사이에서 집중되었다.</a:t>
            </a:r>
          </a:p>
          <a:p>
            <a:pPr>
              <a:spcAft>
                <a:spcPts val="240"/>
              </a:spcAft>
              <a:defRPr sz="1700">
                <a:solidFill>
                  <a:srgbClr val="141414"/>
                </a:solidFill>
                <a:latin typeface="맑은 고딕"/>
              </a:defRPr>
            </a:pPr>
            <a:r>
              <a:t>푸시업-니푸쉬업, 런지 계열, 크런치 계열에서 혼동이 크게 나타났다.</a:t>
            </a:r>
          </a:p>
          <a:p>
            <a:pPr>
              <a:spcAft>
                <a:spcPts val="240"/>
              </a:spcAft>
              <a:defRPr sz="1700">
                <a:solidFill>
                  <a:srgbClr val="141414"/>
                </a:solidFill>
                <a:latin typeface="맑은 고딕"/>
              </a:defRPr>
            </a:pPr>
            <a:r>
              <a:t>혼동행렬은 모델이 어떤 라벨 쌍을 어려워하는지 보여주는 핵심 결과이다.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5074920"/>
            <a:ext cx="3840480" cy="685800"/>
          </a:xfrm>
          <a:prstGeom prst="roundRect">
            <a:avLst/>
          </a:prstGeom>
          <a:solidFill>
            <a:srgbClr val="FFF6F7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BE1423"/>
                </a:solidFill>
                <a:latin typeface="맑은 고딕"/>
              </a:rPr>
              <a:t>성능 비교의 다음 단계는 ‘왜 틀렸는가’를 해석하는 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맑은 고딕"/>
              </a:rPr>
              <a:t>주요 오분류 조합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43000"/>
          <a:ext cx="67665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True Label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Predicted Label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Count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스텝 백워드 다이나믹 런지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스텝 포워드 다이나믹 런지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1440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니푸쉬업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푸시업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1340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푸시업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니푸쉬업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813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시저크로스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바이시클 크런치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608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바이시클 크런치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크런치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552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크런치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바이시클 크런치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504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스탠딩 사이드 크런치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스탠딩 니업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맑은 고딕"/>
                        </a:rPr>
                        <a:t>275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26679" y="1417320"/>
            <a:ext cx="3657600" cy="28346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40"/>
              </a:spcAft>
              <a:defRPr sz="1700">
                <a:solidFill>
                  <a:srgbClr val="141414"/>
                </a:solidFill>
                <a:latin typeface="맑은 고딕"/>
              </a:defRPr>
            </a:pPr>
            <a:r>
              <a:t>런지 계열: 전후 방향 차이가 좌표 통계에서 약하게 표현될 수 있음</a:t>
            </a:r>
          </a:p>
          <a:p>
            <a:pPr>
              <a:spcAft>
                <a:spcPts val="240"/>
              </a:spcAft>
              <a:defRPr sz="1700">
                <a:solidFill>
                  <a:srgbClr val="141414"/>
                </a:solidFill>
                <a:latin typeface="맑은 고딕"/>
              </a:defRPr>
            </a:pPr>
            <a:r>
              <a:t>푸시업 계열: 무릎 지지 여부 외에는 상체 패턴이 유사함</a:t>
            </a:r>
          </a:p>
          <a:p>
            <a:pPr>
              <a:spcAft>
                <a:spcPts val="240"/>
              </a:spcAft>
              <a:defRPr sz="1700">
                <a:solidFill>
                  <a:srgbClr val="141414"/>
                </a:solidFill>
                <a:latin typeface="맑은 고딕"/>
              </a:defRPr>
            </a:pPr>
            <a:r>
              <a:t>크런치 계열: 누운 자세 기반 코어 운동끼리 몸통/하체 움직임이 겹침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696712"/>
            <a:ext cx="6720840" cy="411480"/>
          </a:xfrm>
          <a:prstGeom prst="roundRect">
            <a:avLst/>
          </a:prstGeom>
          <a:solidFill>
            <a:srgbClr val="FFF6F7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1">
                <a:solidFill>
                  <a:srgbClr val="BE1423"/>
                </a:solidFill>
                <a:latin typeface="맑은 고딕"/>
              </a:rPr>
              <a:t>※ Count는 4개 모델과 5개 seed 결과에서 누적 확인된 오분류 횟수이며, 단일 모델 1회 실험의 오류 수가 아니다.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 dirty="0" err="1">
                <a:solidFill>
                  <a:srgbClr val="141414"/>
                </a:solidFill>
                <a:latin typeface="맑은 고딕"/>
              </a:rPr>
              <a:t>주요</a:t>
            </a:r>
            <a:r>
              <a:rPr sz="3000" b="1" dirty="0">
                <a:solidFill>
                  <a:srgbClr val="141414"/>
                </a:solidFill>
                <a:latin typeface="맑은 고딕"/>
              </a:rPr>
              <a:t> </a:t>
            </a:r>
            <a:r>
              <a:rPr sz="3000" b="1" dirty="0" err="1">
                <a:solidFill>
                  <a:srgbClr val="141414"/>
                </a:solidFill>
                <a:latin typeface="맑은 고딕"/>
              </a:rPr>
              <a:t>지표</a:t>
            </a:r>
            <a:r>
              <a:rPr sz="3000" b="1" dirty="0">
                <a:solidFill>
                  <a:srgbClr val="141414"/>
                </a:solidFill>
                <a:latin typeface="맑은 고딕"/>
              </a:rPr>
              <a:t> </a:t>
            </a:r>
            <a:r>
              <a:rPr sz="3000" b="1" dirty="0" err="1">
                <a:solidFill>
                  <a:srgbClr val="141414"/>
                </a:solidFill>
                <a:latin typeface="맑은 고딕"/>
              </a:rPr>
              <a:t>검증</a:t>
            </a:r>
            <a:r>
              <a:rPr sz="3000" b="1" dirty="0">
                <a:solidFill>
                  <a:srgbClr val="141414"/>
                </a:solidFill>
                <a:latin typeface="맑은 고딕"/>
              </a:rPr>
              <a:t>: </a:t>
            </a:r>
            <a:r>
              <a:rPr sz="3000" b="1" dirty="0" err="1">
                <a:solidFill>
                  <a:srgbClr val="141414"/>
                </a:solidFill>
                <a:latin typeface="맑은 고딕"/>
              </a:rPr>
              <a:t>버피</a:t>
            </a:r>
            <a:r>
              <a:rPr sz="3000" b="1" dirty="0">
                <a:solidFill>
                  <a:srgbClr val="141414"/>
                </a:solidFill>
                <a:latin typeface="맑은 고딕"/>
              </a:rPr>
              <a:t> </a:t>
            </a:r>
            <a:r>
              <a:rPr sz="3000" b="1" dirty="0" err="1">
                <a:solidFill>
                  <a:srgbClr val="141414"/>
                </a:solidFill>
                <a:latin typeface="맑은 고딕"/>
              </a:rPr>
              <a:t>테스트</a:t>
            </a:r>
            <a:endParaRPr sz="3000" b="1" dirty="0">
              <a:solidFill>
                <a:srgbClr val="141414"/>
              </a:solidFill>
              <a:latin typeface="맑은 고딕"/>
            </a:endParaRP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115568"/>
            <a:ext cx="10607040" cy="566928"/>
          </a:xfrm>
          <a:prstGeom prst="roundRect">
            <a:avLst/>
          </a:prstGeom>
          <a:solidFill>
            <a:srgbClr val="FFF6F7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dirty="0">
                <a:solidFill>
                  <a:srgbClr val="BE1423"/>
                </a:solidFill>
                <a:latin typeface="맑은 고딕"/>
              </a:rPr>
              <a:t>1.0000은 ‘</a:t>
            </a:r>
            <a:r>
              <a:rPr sz="1800" b="1" dirty="0" err="1">
                <a:solidFill>
                  <a:srgbClr val="BE1423"/>
                </a:solidFill>
                <a:latin typeface="맑은 고딕"/>
              </a:rPr>
              <a:t>완벽한</a:t>
            </a:r>
            <a:r>
              <a:rPr sz="18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800" b="1" dirty="0" err="1">
                <a:solidFill>
                  <a:srgbClr val="BE1423"/>
                </a:solidFill>
                <a:latin typeface="맑은 고딕"/>
              </a:rPr>
              <a:t>모델’이</a:t>
            </a:r>
            <a:r>
              <a:rPr sz="18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800" b="1" dirty="0" err="1">
                <a:solidFill>
                  <a:srgbClr val="BE1423"/>
                </a:solidFill>
                <a:latin typeface="맑은 고딕"/>
              </a:rPr>
              <a:t>아니라</a:t>
            </a:r>
            <a:r>
              <a:rPr sz="1800" b="1" dirty="0">
                <a:solidFill>
                  <a:srgbClr val="BE1423"/>
                </a:solidFill>
                <a:latin typeface="맑은 고딕"/>
              </a:rPr>
              <a:t>, AI-Hub test </a:t>
            </a:r>
            <a:r>
              <a:rPr sz="1800" b="1" dirty="0" err="1">
                <a:solidFill>
                  <a:srgbClr val="BE1423"/>
                </a:solidFill>
                <a:latin typeface="맑은 고딕"/>
              </a:rPr>
              <a:t>조건에서</a:t>
            </a:r>
            <a:r>
              <a:rPr sz="18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800" b="1" dirty="0" err="1">
                <a:solidFill>
                  <a:srgbClr val="BE1423"/>
                </a:solidFill>
                <a:latin typeface="맑은 고딕"/>
              </a:rPr>
              <a:t>버피</a:t>
            </a:r>
            <a:r>
              <a:rPr sz="18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800" b="1" dirty="0" err="1">
                <a:solidFill>
                  <a:srgbClr val="BE1423"/>
                </a:solidFill>
                <a:latin typeface="맑은 고딕"/>
              </a:rPr>
              <a:t>테스트가</a:t>
            </a:r>
            <a:r>
              <a:rPr sz="18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800" b="1" dirty="0" err="1">
                <a:solidFill>
                  <a:srgbClr val="BE1423"/>
                </a:solidFill>
                <a:latin typeface="맑은 고딕"/>
              </a:rPr>
              <a:t>다른</a:t>
            </a:r>
            <a:r>
              <a:rPr sz="18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800" b="1" dirty="0" err="1">
                <a:solidFill>
                  <a:srgbClr val="BE1423"/>
                </a:solidFill>
                <a:latin typeface="맑은 고딕"/>
              </a:rPr>
              <a:t>라벨과</a:t>
            </a:r>
            <a:r>
              <a:rPr sz="18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800" b="1" dirty="0" err="1">
                <a:solidFill>
                  <a:srgbClr val="BE1423"/>
                </a:solidFill>
                <a:latin typeface="맑은 고딕"/>
              </a:rPr>
              <a:t>매우</a:t>
            </a:r>
            <a:r>
              <a:rPr sz="1800" b="1" dirty="0">
                <a:solidFill>
                  <a:srgbClr val="BE1423"/>
                </a:solidFill>
                <a:latin typeface="맑은 고딕"/>
              </a:rPr>
              <a:t> 잘 </a:t>
            </a:r>
            <a:r>
              <a:rPr sz="1800" b="1" dirty="0" err="1">
                <a:solidFill>
                  <a:srgbClr val="BE1423"/>
                </a:solidFill>
                <a:latin typeface="맑은 고딕"/>
              </a:rPr>
              <a:t>분리되었다는</a:t>
            </a:r>
            <a:r>
              <a:rPr sz="1800" b="1" dirty="0">
                <a:solidFill>
                  <a:srgbClr val="BE1423"/>
                </a:solidFill>
                <a:latin typeface="맑은 고딕"/>
              </a:rPr>
              <a:t> </a:t>
            </a:r>
            <a:r>
              <a:rPr sz="1800" b="1" dirty="0" err="1">
                <a:solidFill>
                  <a:srgbClr val="BE1423"/>
                </a:solidFill>
                <a:latin typeface="맑은 고딕"/>
              </a:rPr>
              <a:t>의미이다</a:t>
            </a:r>
            <a:r>
              <a:rPr sz="1800" b="1" dirty="0">
                <a:solidFill>
                  <a:srgbClr val="BE1423"/>
                </a:solidFill>
                <a:latin typeface="맑은 고딕"/>
              </a:rPr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74519"/>
          <a:ext cx="11018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검증 항목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확인 결과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해석</a:t>
                      </a:r>
                    </a:p>
                  </a:txBody>
                  <a:tcPr marL="36576" marR="36576">
                    <a:solidFill>
                      <a:srgbClr val="BE14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414"/>
                          </a:solidFill>
                          <a:latin typeface="맑은 고딕"/>
                        </a:rPr>
                        <a:t>계산 단위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414"/>
                          </a:solidFill>
                          <a:latin typeface="맑은 고딕"/>
                        </a:rPr>
                        <a:t>test 288개 × 5 seeds = support 1440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414"/>
                          </a:solidFill>
                          <a:latin typeface="맑은 고딕"/>
                        </a:rPr>
                        <a:t>반복 seed 기준으로 누적 확인한 라벨별 성능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414"/>
                          </a:solidFill>
                          <a:latin typeface="맑은 고딕"/>
                        </a:rPr>
                        <a:t>모델별 정답 수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414"/>
                          </a:solidFill>
                          <a:latin typeface="맑은 고딕"/>
                        </a:rPr>
                        <a:t>SVM 1440/1440, XGBoost 1436/1440,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41414"/>
                          </a:solidFill>
                          <a:latin typeface="맑은 고딕"/>
                        </a:rPr>
                        <a:t>Transformer 1440/1440, GNN 1440/1440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414"/>
                          </a:solidFill>
                          <a:latin typeface="맑은 고딕"/>
                        </a:rPr>
                        <a:t>대부분 모델에서 버피 테스트가 매우 뚜렷하게 분리됨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414"/>
                          </a:solidFill>
                          <a:latin typeface="맑은 고딕"/>
                        </a:rPr>
                        <a:t>오분류 사례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414"/>
                          </a:solidFill>
                          <a:latin typeface="맑은 고딕"/>
                        </a:rPr>
                        <a:t>XGBoost: D23-4-080-3d가 4개 seed에서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41414"/>
                          </a:solidFill>
                          <a:latin typeface="맑은 고딕"/>
                        </a:rPr>
                        <a:t>바이시클 크런치로 예측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414"/>
                          </a:solidFill>
                          <a:latin typeface="맑은 고딕"/>
                        </a:rPr>
                        <a:t>1.0000이 모든 모델에서 무조건 나온 것은 아님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414"/>
                          </a:solidFill>
                          <a:latin typeface="맑은 고딕"/>
                        </a:rPr>
                        <a:t>누수 점검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414"/>
                          </a:solidFill>
                          <a:latin typeface="맑은 고딕"/>
                        </a:rPr>
                        <a:t>sample_id/session_id 중복 없음,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41414"/>
                          </a:solidFill>
                          <a:latin typeface="맑은 고딕"/>
                        </a:rPr>
                        <a:t>train-test 동일 feature vector 없음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414"/>
                          </a:solidFill>
                          <a:latin typeface="맑은 고딕"/>
                        </a:rPr>
                        <a:t>동일 샘플이 평가에 섞인 직접 누수는 확인되지 않음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414"/>
                          </a:solidFill>
                          <a:latin typeface="맑은 고딕"/>
                        </a:rPr>
                        <a:t>해석 한계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414"/>
                          </a:solidFill>
                          <a:latin typeface="맑은 고딕"/>
                        </a:rPr>
                        <a:t>동일 운동 변형 serial 49-80이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41414"/>
                          </a:solidFill>
                          <a:latin typeface="맑은 고딕"/>
                        </a:rPr>
                        <a:t>train/validation/test에 모두 존재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41414"/>
                          </a:solidFill>
                          <a:latin typeface="맑은 고딕"/>
                        </a:rPr>
                        <a:t>완전히 새로운 환경 일반화 성능으로 단정할 수 없음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" y="5285232"/>
            <a:ext cx="10332720" cy="8686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41414"/>
                </a:solidFill>
                <a:latin typeface="맑은 고딕"/>
              </a:defRPr>
            </a:pPr>
            <a:r>
              <a:rPr dirty="0" err="1"/>
              <a:t>버피</a:t>
            </a:r>
            <a:r>
              <a:rPr dirty="0"/>
              <a:t> </a:t>
            </a:r>
            <a:r>
              <a:rPr dirty="0" err="1"/>
              <a:t>테스트는</a:t>
            </a:r>
            <a:r>
              <a:rPr dirty="0"/>
              <a:t> </a:t>
            </a:r>
            <a:r>
              <a:rPr dirty="0" err="1"/>
              <a:t>서기-엎드리기-점프처럼</a:t>
            </a:r>
            <a:r>
              <a:rPr dirty="0"/>
              <a:t> </a:t>
            </a:r>
            <a:r>
              <a:rPr dirty="0" err="1"/>
              <a:t>전신</a:t>
            </a:r>
            <a:r>
              <a:rPr dirty="0"/>
              <a:t> </a:t>
            </a:r>
            <a:r>
              <a:rPr dirty="0" err="1"/>
              <a:t>관절</a:t>
            </a:r>
            <a:r>
              <a:rPr dirty="0"/>
              <a:t> </a:t>
            </a:r>
            <a:r>
              <a:rPr dirty="0" err="1"/>
              <a:t>변화가</a:t>
            </a:r>
            <a:r>
              <a:rPr dirty="0"/>
              <a:t> 커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운동과</a:t>
            </a:r>
            <a:r>
              <a:rPr dirty="0"/>
              <a:t> </a:t>
            </a:r>
            <a:r>
              <a:rPr dirty="0" err="1"/>
              <a:t>패턴</a:t>
            </a:r>
            <a:r>
              <a:rPr dirty="0"/>
              <a:t> </a:t>
            </a:r>
            <a:r>
              <a:rPr dirty="0" err="1"/>
              <a:t>차이가</a:t>
            </a:r>
            <a:r>
              <a:rPr dirty="0"/>
              <a:t> </a:t>
            </a:r>
            <a:r>
              <a:rPr dirty="0" err="1"/>
              <a:t>뚜렷하다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400">
                <a:solidFill>
                  <a:srgbClr val="141414"/>
                </a:solidFill>
                <a:latin typeface="맑은 고딕"/>
              </a:defRPr>
            </a:pPr>
            <a:r>
              <a:rPr dirty="0" err="1"/>
              <a:t>신뢰</a:t>
            </a:r>
            <a:r>
              <a:rPr dirty="0"/>
              <a:t> </a:t>
            </a:r>
            <a:r>
              <a:rPr dirty="0" err="1"/>
              <a:t>근거는</a:t>
            </a:r>
            <a:r>
              <a:rPr dirty="0"/>
              <a:t> </a:t>
            </a:r>
            <a:r>
              <a:rPr dirty="0" err="1"/>
              <a:t>정답</a:t>
            </a:r>
            <a:r>
              <a:rPr dirty="0"/>
              <a:t> 수, </a:t>
            </a:r>
            <a:r>
              <a:rPr dirty="0" err="1"/>
              <a:t>오분류</a:t>
            </a:r>
            <a:r>
              <a:rPr dirty="0"/>
              <a:t> </a:t>
            </a:r>
            <a:r>
              <a:rPr dirty="0" err="1"/>
              <a:t>사례</a:t>
            </a:r>
            <a:r>
              <a:rPr dirty="0"/>
              <a:t>, </a:t>
            </a:r>
            <a:r>
              <a:rPr dirty="0" err="1"/>
              <a:t>누수</a:t>
            </a:r>
            <a:r>
              <a:rPr dirty="0"/>
              <a:t> </a:t>
            </a:r>
            <a:r>
              <a:rPr dirty="0" err="1"/>
              <a:t>점검</a:t>
            </a:r>
            <a:r>
              <a:rPr dirty="0"/>
              <a:t>, </a:t>
            </a:r>
            <a:r>
              <a:rPr dirty="0" err="1"/>
              <a:t>해석</a:t>
            </a:r>
            <a:r>
              <a:rPr dirty="0"/>
              <a:t> </a:t>
            </a:r>
            <a:r>
              <a:rPr dirty="0" err="1"/>
              <a:t>한계를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제시한</a:t>
            </a:r>
            <a:r>
              <a:rPr dirty="0"/>
              <a:t> 데 </a:t>
            </a:r>
            <a:r>
              <a:rPr dirty="0" err="1"/>
              <a:t>있다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400">
                <a:solidFill>
                  <a:srgbClr val="141414"/>
                </a:solidFill>
                <a:latin typeface="맑은 고딕"/>
              </a:defRPr>
            </a:pPr>
            <a:r>
              <a:rPr dirty="0" err="1"/>
              <a:t>따라서</a:t>
            </a:r>
            <a:r>
              <a:rPr dirty="0"/>
              <a:t> </a:t>
            </a:r>
            <a:r>
              <a:rPr dirty="0" err="1"/>
              <a:t>발표에서는</a:t>
            </a:r>
            <a:r>
              <a:rPr dirty="0"/>
              <a:t>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지표와</a:t>
            </a:r>
            <a:r>
              <a:rPr dirty="0"/>
              <a:t> </a:t>
            </a:r>
            <a:r>
              <a:rPr dirty="0" err="1"/>
              <a:t>일반화</a:t>
            </a:r>
            <a:r>
              <a:rPr dirty="0"/>
              <a:t> </a:t>
            </a:r>
            <a:r>
              <a:rPr dirty="0" err="1"/>
              <a:t>한계를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설명해야</a:t>
            </a:r>
            <a:r>
              <a:rPr dirty="0"/>
              <a:t> </a:t>
            </a:r>
            <a:r>
              <a:rPr dirty="0" err="1"/>
              <a:t>한다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5943600" cy="22860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맑은 고딕"/>
              </a:rPr>
              <a:t>관절 위치 정보 기반 운동 동작 분류 및 오분류 패턴 비교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맑은 고딕"/>
              </a:rPr>
              <a:t>자세 그룹별 분석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ure_02_pose_group_macro_f1_by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5486400" cy="2532185"/>
          </a:xfrm>
          <a:prstGeom prst="rect">
            <a:avLst/>
          </a:prstGeom>
        </p:spPr>
      </p:pic>
      <p:pic>
        <p:nvPicPr>
          <p:cNvPr id="8" name="Picture 7" descr="figure_03_same_group_prediction_rat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5303520" cy="3535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14400" y="5669280"/>
            <a:ext cx="10332720" cy="502920"/>
          </a:xfrm>
          <a:prstGeom prst="roundRect">
            <a:avLst/>
          </a:prstGeom>
          <a:solidFill>
            <a:srgbClr val="FFF6F7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BE1423"/>
                </a:solidFill>
                <a:latin typeface="맑은 고딕"/>
              </a:rPr>
              <a:t>유사 자세 그룹 내부에서 혼동이 반복되며, 이는 오분류가 해석 가능한 패턴을 가진다는 근거가 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맑은 고딕"/>
              </a:rPr>
              <a:t>한계점 및 향후 연구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234440"/>
            <a:ext cx="10424160" cy="34747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40"/>
              </a:spcAft>
              <a:defRPr sz="2000">
                <a:solidFill>
                  <a:srgbClr val="141414"/>
                </a:solidFill>
                <a:latin typeface="맑은 고딕"/>
              </a:defRPr>
            </a:pPr>
            <a:r>
              <a:t>AI-Hub 데이터셋 조건에서의 결과이므로 실제 웹캠/MediaPipe 환경으로 바로 일반화할 수 없다.</a:t>
            </a:r>
          </a:p>
          <a:p>
            <a:pPr>
              <a:spcAft>
                <a:spcPts val="240"/>
              </a:spcAft>
              <a:defRPr sz="2000">
                <a:solidFill>
                  <a:srgbClr val="141414"/>
                </a:solidFill>
                <a:latin typeface="맑은 고딕"/>
              </a:defRPr>
            </a:pPr>
            <a:r>
              <a:t>관절 좌표 추출 방식이 달라지면 좌표 스케일, 관절 순서, 누락값 처리 방식도 달라질 수 있다.</a:t>
            </a:r>
          </a:p>
          <a:p>
            <a:pPr>
              <a:spcAft>
                <a:spcPts val="240"/>
              </a:spcAft>
              <a:defRPr sz="2000">
                <a:solidFill>
                  <a:srgbClr val="141414"/>
                </a:solidFill>
                <a:latin typeface="맑은 고딕"/>
              </a:defRPr>
            </a:pPr>
            <a:r>
              <a:t>통계 요약 특징은 프레임 순서의 세밀한 시간 정보를 일부 잃을 수 있다.</a:t>
            </a:r>
          </a:p>
          <a:p>
            <a:pPr>
              <a:spcAft>
                <a:spcPts val="240"/>
              </a:spcAft>
              <a:defRPr sz="2000">
                <a:solidFill>
                  <a:srgbClr val="141414"/>
                </a:solidFill>
                <a:latin typeface="맑은 고딕"/>
              </a:defRPr>
            </a:pPr>
            <a:r>
              <a:t>향후 직접 촬영 데이터와 기준 데이터셋의 좌표 체계를 맞춘 뒤 도메인 차이를 검증해야 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257800"/>
            <a:ext cx="10149840" cy="594360"/>
          </a:xfrm>
          <a:prstGeom prst="roundRect">
            <a:avLst/>
          </a:prstGeom>
          <a:solidFill>
            <a:srgbClr val="FFF6F7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BE1423"/>
                </a:solidFill>
                <a:latin typeface="맑은 고딕"/>
              </a:rPr>
              <a:t>다음 단계: AI-Hub 기준 데이터와 직접 촬영 MediaPipe 데이터의 비교 실험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828800" cy="91440"/>
          </a:xfrm>
          <a:prstGeom prst="rect">
            <a:avLst/>
          </a:prstGeom>
          <a:solidFill>
            <a:srgbClr val="BE14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op line"/>
          <p:cNvSpPr/>
          <p:nvPr/>
        </p:nvSpPr>
        <p:spPr>
          <a:xfrm>
            <a:off x="1828800" y="0"/>
            <a:ext cx="10363200" cy="9144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lide title"/>
          <p:cNvSpPr/>
          <p:nvPr/>
        </p:nvSpPr>
        <p:spPr>
          <a:xfrm>
            <a:off x="777240" y="457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000" dirty="0">
                <a:solidFill>
                  <a:srgbClr val="141414"/>
                </a:solidFill>
              </a:rPr>
              <a:t>직접 촬영 MediaPipe 데이터 예비 적용</a:t>
            </a:r>
            <a:endParaRPr lang="ko-KR" sz="3000" dirty="0"/>
          </a:p>
        </p:txBody>
      </p:sp>
      <p:sp>
        <p:nvSpPr>
          <p:cNvPr id="5" name="slide subtitle"/>
          <p:cNvSpPr/>
          <p:nvPr/>
        </p:nvSpPr>
        <p:spPr>
          <a:xfrm>
            <a:off x="792480" y="1036320"/>
            <a:ext cx="106680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00" dirty="0">
                <a:solidFill>
                  <a:srgbClr val="5C5C5C"/>
                </a:solidFill>
              </a:rPr>
              <a:t>실제 촬영 환경에서 관절 landmark 추출 및 분류 가능성을 확인한 확장 실험</a:t>
            </a:r>
            <a:endParaRPr lang="ko-KR" sz="1400" dirty="0"/>
          </a:p>
        </p:txBody>
      </p:sp>
      <p:pic>
        <p:nvPicPr>
          <p:cNvPr id="10" name="MediaPipe cap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45920"/>
            <a:ext cx="5791200" cy="3657600"/>
          </a:xfrm>
          <a:prstGeom prst="rect">
            <a:avLst/>
          </a:prstGeom>
        </p:spPr>
      </p:pic>
      <p:sp>
        <p:nvSpPr>
          <p:cNvPr id="11" name="capture label"/>
          <p:cNvSpPr/>
          <p:nvPr/>
        </p:nvSpPr>
        <p:spPr>
          <a:xfrm>
            <a:off x="762000" y="5486400"/>
            <a:ext cx="5791200" cy="3962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ko-KR" sz="1400" dirty="0">
                <a:solidFill>
                  <a:srgbClr val="5C5C5C"/>
                </a:solidFill>
              </a:rPr>
              <a:t>직접 촬영 영상에서 MediaPipe landmark를 추출해 실시간 수집/분류 화면을 구성하였다.</a:t>
            </a:r>
            <a:endParaRPr lang="ko-KR" sz="1400" dirty="0"/>
          </a:p>
        </p:txBody>
      </p:sp>
      <p:sp>
        <p:nvSpPr>
          <p:cNvPr id="12" name="summary box"/>
          <p:cNvSpPr/>
          <p:nvPr/>
        </p:nvSpPr>
        <p:spPr>
          <a:xfrm>
            <a:off x="7010400" y="1645920"/>
            <a:ext cx="4429760" cy="533400"/>
          </a:xfrm>
          <a:prstGeom prst="rect">
            <a:avLst/>
          </a:prstGeom>
          <a:solidFill>
            <a:srgbClr val="FFF6F7"/>
          </a:solidFill>
          <a:ln>
            <a:solidFill>
              <a:srgbClr val="BE142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summary title"/>
          <p:cNvSpPr/>
          <p:nvPr/>
        </p:nvSpPr>
        <p:spPr>
          <a:xfrm>
            <a:off x="7240000" y="1767840"/>
            <a:ext cx="39624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800" dirty="0">
                <a:solidFill>
                  <a:srgbClr val="BE1423"/>
                </a:solidFill>
              </a:rPr>
              <a:t>예비 적용 목적</a:t>
            </a:r>
            <a:endParaRPr lang="ko-KR" sz="1800" dirty="0"/>
          </a:p>
        </p:txBody>
      </p:sp>
      <p:sp>
        <p:nvSpPr>
          <p:cNvPr id="14" name="summary bullets"/>
          <p:cNvSpPr/>
          <p:nvPr/>
        </p:nvSpPr>
        <p:spPr>
          <a:xfrm>
            <a:off x="7240000" y="2225040"/>
            <a:ext cx="39624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285750" indent="-171450">
              <a:buChar char="-"/>
            </a:pPr>
            <a:r>
              <a:rPr lang="ko-KR" sz="1500" dirty="0">
                <a:solidFill>
                  <a:srgbClr val="222222"/>
                </a:solidFill>
              </a:rPr>
              <a:t>AI-Hub 기반 본실험 이후 실제 촬영 환경 적용 가능성을 사전 확인</a:t>
            </a:r>
            <a:endParaRPr lang="ko-KR" sz="1500" dirty="0"/>
          </a:p>
          <a:p>
            <a:pPr marL="285750" indent="-171450">
              <a:buChar char="-"/>
            </a:pPr>
            <a:r>
              <a:rPr lang="ko-KR" sz="1500" dirty="0">
                <a:solidFill>
                  <a:srgbClr val="222222"/>
                </a:solidFill>
              </a:rPr>
              <a:t>대상 운동: side lunge, burpee, plank, pushup, crunch</a:t>
            </a:r>
            <a:endParaRPr lang="ko-KR" sz="1500" dirty="0"/>
          </a:p>
          <a:p>
            <a:pPr marL="285750" indent="-171450">
              <a:buChar char="-"/>
            </a:pPr>
            <a:r>
              <a:rPr lang="ko-KR" sz="1500" dirty="0">
                <a:solidFill>
                  <a:srgbClr val="222222"/>
                </a:solidFill>
              </a:rPr>
              <a:t>입력: MediaPipe 33개 landmark의 x, y, z 좌표</a:t>
            </a:r>
            <a:endParaRPr lang="ko-KR" sz="1500" dirty="0"/>
          </a:p>
          <a:p>
            <a:pPr marL="285750" indent="-171450">
              <a:buChar char="-"/>
            </a:pPr>
            <a:r>
              <a:rPr lang="ko-KR" sz="1500" dirty="0">
                <a:solidFill>
                  <a:srgbClr val="222222"/>
                </a:solidFill>
              </a:rPr>
              <a:t>저장 단위: 영상 샘플이 아니라 프레임 단위 CSV</a:t>
            </a:r>
            <a:endParaRPr lang="ko-KR" sz="1500" dirty="0"/>
          </a:p>
        </p:txBody>
      </p:sp>
      <p:sp>
        <p:nvSpPr>
          <p:cNvPr id="15" name="important note"/>
          <p:cNvSpPr/>
          <p:nvPr/>
        </p:nvSpPr>
        <p:spPr>
          <a:xfrm>
            <a:off x="7010400" y="4876800"/>
            <a:ext cx="442976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ko-KR" sz="1600" dirty="0">
                <a:solidFill>
                  <a:srgbClr val="BE1423"/>
                </a:solidFill>
              </a:rPr>
              <a:t>※ 본 결과는 프레임 단위 예비 실험이며, AI-Hub 본실험의 샘플 단위 결과와 직접 비교하지 않는다.</a:t>
            </a:r>
            <a:endParaRPr lang="ko-KR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828800" cy="91440"/>
          </a:xfrm>
          <a:prstGeom prst="rect">
            <a:avLst/>
          </a:prstGeom>
          <a:solidFill>
            <a:srgbClr val="BE14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op line"/>
          <p:cNvSpPr/>
          <p:nvPr/>
        </p:nvSpPr>
        <p:spPr>
          <a:xfrm>
            <a:off x="1828800" y="0"/>
            <a:ext cx="10363200" cy="9144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lide title"/>
          <p:cNvSpPr/>
          <p:nvPr/>
        </p:nvSpPr>
        <p:spPr>
          <a:xfrm>
            <a:off x="777240" y="457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000" dirty="0">
                <a:solidFill>
                  <a:srgbClr val="141414"/>
                </a:solidFill>
              </a:rPr>
              <a:t>MediaPipe 결과 CSV 시각화</a:t>
            </a:r>
            <a:endParaRPr lang="ko-KR" sz="3000" dirty="0"/>
          </a:p>
        </p:txBody>
      </p:sp>
      <p:sp>
        <p:nvSpPr>
          <p:cNvPr id="5" name="slide subtitle"/>
          <p:cNvSpPr/>
          <p:nvPr/>
        </p:nvSpPr>
        <p:spPr>
          <a:xfrm>
            <a:off x="792480" y="1036320"/>
            <a:ext cx="106680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00" dirty="0">
                <a:solidFill>
                  <a:srgbClr val="5C5C5C"/>
                </a:solidFill>
              </a:rPr>
              <a:t>프레임 수, 모델 성능 요약, training log를 PPT 첨부용 이미지로 정리</a:t>
            </a:r>
            <a:endParaRPr lang="ko-KR" sz="1400" dirty="0"/>
          </a:p>
        </p:txBody>
      </p:sp>
      <p:pic>
        <p:nvPicPr>
          <p:cNvPr id="10" name="frame coun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84960"/>
            <a:ext cx="5105400" cy="2537460"/>
          </a:xfrm>
          <a:prstGeom prst="rect">
            <a:avLst/>
          </a:prstGeom>
        </p:spPr>
      </p:pic>
      <p:pic>
        <p:nvPicPr>
          <p:cNvPr id="11" name="metric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584960"/>
            <a:ext cx="5105400" cy="2537460"/>
          </a:xfrm>
          <a:prstGeom prst="rect">
            <a:avLst/>
          </a:prstGeom>
        </p:spPr>
      </p:pic>
      <p:pic>
        <p:nvPicPr>
          <p:cNvPr id="12" name="results t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4470000"/>
            <a:ext cx="4114800" cy="1524000"/>
          </a:xfrm>
          <a:prstGeom prst="rect">
            <a:avLst/>
          </a:prstGeom>
        </p:spPr>
      </p:pic>
      <p:pic>
        <p:nvPicPr>
          <p:cNvPr id="13" name="training log tab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470000"/>
            <a:ext cx="4114800" cy="1524000"/>
          </a:xfrm>
          <a:prstGeom prst="rect">
            <a:avLst/>
          </a:prstGeom>
        </p:spPr>
      </p:pic>
      <p:sp>
        <p:nvSpPr>
          <p:cNvPr id="14" name="interpretation"/>
          <p:cNvSpPr/>
          <p:nvPr/>
        </p:nvSpPr>
        <p:spPr>
          <a:xfrm>
            <a:off x="792480" y="6096000"/>
            <a:ext cx="10515600" cy="4876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ko-KR" sz="1400" dirty="0">
                <a:solidFill>
                  <a:srgbClr val="5C5C5C"/>
                </a:solidFill>
              </a:rPr>
              <a:t>CSV 결과는 프레임 수, 모델별 요약 성능, training log를 발표용 그래프/표로 변환하였다. XGBoost와 SVM 결과는 예비 지표로 제시하되, 본실험의 AI-Hub 샘플 단위 성능과 같은 기준으로 비교하지 않는다.</a:t>
            </a:r>
            <a:endParaRPr lang="ko-KR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828800" cy="91440"/>
          </a:xfrm>
          <a:prstGeom prst="rect">
            <a:avLst/>
          </a:prstGeom>
          <a:solidFill>
            <a:srgbClr val="BE14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op line"/>
          <p:cNvSpPr/>
          <p:nvPr/>
        </p:nvSpPr>
        <p:spPr>
          <a:xfrm>
            <a:off x="1828800" y="0"/>
            <a:ext cx="10363200" cy="9144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lide title"/>
          <p:cNvSpPr/>
          <p:nvPr/>
        </p:nvSpPr>
        <p:spPr>
          <a:xfrm>
            <a:off x="777240" y="457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000" dirty="0">
                <a:solidFill>
                  <a:srgbClr val="141414"/>
                </a:solidFill>
              </a:rPr>
              <a:t>AI-Hub 본실험과의 차이점</a:t>
            </a:r>
            <a:endParaRPr lang="ko-KR" sz="3000" dirty="0"/>
          </a:p>
        </p:txBody>
      </p:sp>
      <p:sp>
        <p:nvSpPr>
          <p:cNvPr id="5" name="slide subtitle"/>
          <p:cNvSpPr/>
          <p:nvPr/>
        </p:nvSpPr>
        <p:spPr>
          <a:xfrm>
            <a:off x="792480" y="1036320"/>
            <a:ext cx="106680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00" dirty="0">
                <a:solidFill>
                  <a:srgbClr val="5C5C5C"/>
                </a:solidFill>
              </a:rPr>
              <a:t>데이터 구조와 평가 단위가 다르므로 직접 성능 비교가 아니라 예비 적용 결과로 해석</a:t>
            </a:r>
            <a:endParaRPr lang="ko-KR" sz="1400" dirty="0"/>
          </a:p>
        </p:txBody>
      </p:sp>
      <p:pic>
        <p:nvPicPr>
          <p:cNvPr id="10" name="confusion matri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1463040"/>
            <a:ext cx="5715000" cy="2926080"/>
          </a:xfrm>
          <a:prstGeom prst="rect">
            <a:avLst/>
          </a:prstGeom>
        </p:spPr>
      </p:pic>
      <p:sp>
        <p:nvSpPr>
          <p:cNvPr id="11" name="diff box"/>
          <p:cNvSpPr/>
          <p:nvPr/>
        </p:nvSpPr>
        <p:spPr>
          <a:xfrm>
            <a:off x="6806160" y="1463040"/>
            <a:ext cx="4572000" cy="2926080"/>
          </a:xfrm>
          <a:prstGeom prst="rect">
            <a:avLst/>
          </a:prstGeom>
          <a:solidFill>
            <a:srgbClr val="F7F7F7"/>
          </a:solidFill>
          <a:ln>
            <a:solidFill>
              <a:srgbClr val="D9D9D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diff title"/>
          <p:cNvSpPr/>
          <p:nvPr/>
        </p:nvSpPr>
        <p:spPr>
          <a:xfrm>
            <a:off x="7040880" y="1615440"/>
            <a:ext cx="41148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800" dirty="0">
                <a:solidFill>
                  <a:srgbClr val="141414"/>
                </a:solidFill>
              </a:rPr>
              <a:t>AI-Hub 본실험과의 차이</a:t>
            </a:r>
            <a:endParaRPr lang="ko-KR" sz="1800" dirty="0"/>
          </a:p>
        </p:txBody>
      </p:sp>
      <p:sp>
        <p:nvSpPr>
          <p:cNvPr id="13" name="diff bullets"/>
          <p:cNvSpPr/>
          <p:nvPr/>
        </p:nvSpPr>
        <p:spPr>
          <a:xfrm>
            <a:off x="7040880" y="2057400"/>
            <a:ext cx="4114800" cy="1676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285750" indent="-171450">
              <a:buChar char="-"/>
            </a:pPr>
            <a:r>
              <a:rPr lang="ko-KR" sz="1400" dirty="0">
                <a:solidFill>
                  <a:srgbClr val="222222"/>
                </a:solidFill>
              </a:rPr>
              <a:t>AI-Hub: 24개 관절 기반 -3d.json, JSON 1개를 운동 수행 샘플로 사용</a:t>
            </a:r>
            <a:endParaRPr lang="ko-KR" sz="1400" dirty="0"/>
          </a:p>
          <a:p>
            <a:pPr marL="285750" indent="-171450">
              <a:buChar char="-"/>
            </a:pPr>
            <a:r>
              <a:rPr lang="ko-KR" sz="1400" dirty="0">
                <a:solidFill>
                  <a:srgbClr val="222222"/>
                </a:solidFill>
              </a:rPr>
              <a:t>MediaPipe: 33개 landmark 기반 CSV, 각 행이 프레임 단위 입력</a:t>
            </a:r>
            <a:endParaRPr lang="ko-KR" sz="1400" dirty="0"/>
          </a:p>
          <a:p>
            <a:pPr marL="285750" indent="-171450">
              <a:buChar char="-"/>
            </a:pPr>
            <a:r>
              <a:rPr lang="ko-KR" sz="1400" dirty="0">
                <a:solidFill>
                  <a:srgbClr val="222222"/>
                </a:solidFill>
              </a:rPr>
              <a:t>AI-Hub: 17개 맨몸운동 라벨의 본실험 결과</a:t>
            </a:r>
            <a:endParaRPr lang="ko-KR" sz="1400" dirty="0"/>
          </a:p>
          <a:p>
            <a:pPr marL="285750" indent="-171450">
              <a:buChar char="-"/>
            </a:pPr>
            <a:r>
              <a:rPr lang="ko-KR" sz="1400" dirty="0">
                <a:solidFill>
                  <a:srgbClr val="222222"/>
                </a:solidFill>
              </a:rPr>
              <a:t>MediaPipe: 직접 촬영 5개 운동의 확장 가능성 확인용 예비 실험</a:t>
            </a:r>
            <a:endParaRPr lang="ko-KR" sz="1400" dirty="0"/>
          </a:p>
        </p:txBody>
      </p:sp>
      <p:sp>
        <p:nvSpPr>
          <p:cNvPr id="14" name="confusion note"/>
          <p:cNvSpPr/>
          <p:nvPr/>
        </p:nvSpPr>
        <p:spPr>
          <a:xfrm>
            <a:off x="914400" y="4602480"/>
            <a:ext cx="5486400" cy="8534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ko-KR" sz="1400" dirty="0">
                <a:solidFill>
                  <a:srgbClr val="5C5C5C"/>
                </a:solidFill>
              </a:rPr>
              <a:t>혼동행렬은 직접 촬영 데이터에서 모델 적용 흐름을 보여주는 보조 자료이다. 현재 결과 파일에서는 SVM과 XGBoost의 평가 총량이 서로 달라 정량 비교보다 예비 분석 자료로 해석한다.</a:t>
            </a:r>
            <a:endParaRPr lang="ko-KR" sz="1400" dirty="0"/>
          </a:p>
        </p:txBody>
      </p:sp>
      <p:sp>
        <p:nvSpPr>
          <p:cNvPr id="15" name="mandatory note"/>
          <p:cNvSpPr/>
          <p:nvPr/>
        </p:nvSpPr>
        <p:spPr>
          <a:xfrm>
            <a:off x="6858000" y="4815840"/>
            <a:ext cx="452628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ko-KR" sz="1700" dirty="0">
                <a:solidFill>
                  <a:srgbClr val="BE1423"/>
                </a:solidFill>
              </a:rPr>
              <a:t>※ 본 결과는 프레임 단위 예비 실험이며, AI-Hub 본실험의 샘플 단위 결과와 직접 비교하지 않는다.</a:t>
            </a:r>
            <a:endParaRPr lang="ko-KR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887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685800" cy="32004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1600" b="1">
                <a:solidFill>
                  <a:srgbClr val="BE1423"/>
                </a:solidFill>
                <a:latin typeface="맑은 고딕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"/>
            <a:ext cx="10469880" cy="594360"/>
          </a:xfrm>
          <a:prstGeom prst="rect">
            <a:avLst/>
          </a:prstGeom>
          <a:noFill/>
        </p:spPr>
        <p:txBody>
          <a:bodyPr wrap="square" lIns="27432" rIns="27432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맑은 고딕"/>
              </a:rPr>
              <a:t>결론</a:t>
            </a:r>
          </a:p>
        </p:txBody>
      </p:sp>
      <p:sp>
        <p:nvSpPr>
          <p:cNvPr id="5" name="Straight Connector 4"/>
          <p:cNvSpPr/>
          <p:nvPr/>
        </p:nvSpPr>
        <p:spPr>
          <a:xfrm>
            <a:off x="530352" y="941832"/>
            <a:ext cx="11155680" cy="941832"/>
          </a:xfrm>
          <a:prstGeom prst="lineInv">
            <a:avLst/>
          </a:prstGeom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10607040" cy="822960"/>
          </a:xfrm>
          <a:prstGeom prst="roundRect">
            <a:avLst/>
          </a:prstGeom>
          <a:solidFill>
            <a:srgbClr val="FFF6F7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BE1423"/>
                </a:solidFill>
                <a:latin typeface="맑은 고딕"/>
              </a:rPr>
              <a:t>관절 위치 정보만으로도 17개 맨몸운동 동작 분류가 가능하며, 오분류는 유사 자세 그룹에 집중되었다.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149840" cy="19202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240"/>
              </a:spcAft>
              <a:defRPr sz="2000">
                <a:solidFill>
                  <a:srgbClr val="141414"/>
                </a:solidFill>
                <a:latin typeface="맑은 고딕"/>
              </a:defRPr>
            </a:pPr>
            <a:r>
              <a:t>SVM Macro-F1 0.9044, XGBoost Macro-F1 0.9006으로 가장 안정적인 성능을 보였다.</a:t>
            </a:r>
          </a:p>
          <a:p>
            <a:pPr>
              <a:spcAft>
                <a:spcPts val="240"/>
              </a:spcAft>
              <a:defRPr sz="2000">
                <a:solidFill>
                  <a:srgbClr val="141414"/>
                </a:solidFill>
                <a:latin typeface="맑은 고딕"/>
              </a:defRPr>
            </a:pPr>
            <a:r>
              <a:t>오분류는 푸시업/니푸쉬업, 런지 계열, 크런치 계열처럼 관절 움직임이 유사한 라벨에서 많이 발생했다.</a:t>
            </a:r>
          </a:p>
          <a:p>
            <a:pPr>
              <a:spcAft>
                <a:spcPts val="240"/>
              </a:spcAft>
              <a:defRPr sz="2000">
                <a:solidFill>
                  <a:srgbClr val="141414"/>
                </a:solidFill>
                <a:latin typeface="맑은 고딕"/>
              </a:defRPr>
            </a:pPr>
            <a:r>
              <a:t>모델 선택은 단순 성능뿐 아니라 데이터 표현 방식, 입력 구조, 해석 가능성을 함께 고려해야 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BE1423"/>
          </a:solidFill>
          <a:ln>
            <a:solidFill>
              <a:srgbClr val="BE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423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41414"/>
                </a:solidFill>
                <a:latin typeface="맑은 고딕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37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5C5C"/>
                </a:solidFill>
                <a:latin typeface="맑은 고딕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2179</Words>
  <Application>Microsoft Office PowerPoint</Application>
  <PresentationFormat>와이드스크린</PresentationFormat>
  <Paragraphs>309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Ludy Kim</cp:lastModifiedBy>
  <cp:revision>15</cp:revision>
  <dcterms:created xsi:type="dcterms:W3CDTF">2013-01-27T09:14:16Z</dcterms:created>
  <dcterms:modified xsi:type="dcterms:W3CDTF">2026-06-16T11:46:50Z</dcterms:modified>
  <cp:category/>
</cp:coreProperties>
</file>